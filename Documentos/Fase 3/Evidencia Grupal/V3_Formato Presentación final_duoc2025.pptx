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Franklin Gothic"/>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hwXGbMwM1zbz/e6ToN5ThZKdPm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F083F6B-9C2D-4B4F-8196-59A929FA400A}">
  <a:tblStyle styleId="{4F083F6B-9C2D-4B4F-8196-59A929FA400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FranklinGothic-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CL"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90000"/>
              </a:lnSpc>
              <a:spcBef>
                <a:spcPts val="1000"/>
              </a:spcBef>
              <a:spcAft>
                <a:spcPts val="0"/>
              </a:spcAft>
              <a:buClr>
                <a:srgbClr val="DE3075"/>
              </a:buClr>
              <a:buSzPts val="2800"/>
              <a:buFont typeface="Franklin Gothic"/>
              <a:buNone/>
            </a:pPr>
            <a:r>
              <a:rPr lang="es-CL">
                <a:solidFill>
                  <a:srgbClr val="002060"/>
                </a:solidFill>
              </a:rPr>
              <a:t>Descripción breve de la temática a tratar. </a:t>
            </a:r>
            <a:endParaRPr/>
          </a:p>
          <a:p>
            <a:pPr indent="0" lvl="0" marL="0" rtl="0" algn="l">
              <a:lnSpc>
                <a:spcPct val="90000"/>
              </a:lnSpc>
              <a:spcBef>
                <a:spcPts val="1000"/>
              </a:spcBef>
              <a:spcAft>
                <a:spcPts val="0"/>
              </a:spcAft>
              <a:buClr>
                <a:srgbClr val="DE3075"/>
              </a:buClr>
              <a:buSzPts val="2800"/>
              <a:buFont typeface="Franklin Gothic"/>
              <a:buNone/>
            </a:pPr>
            <a:r>
              <a:rPr lang="es-CL">
                <a:solidFill>
                  <a:srgbClr val="002060"/>
                </a:solidFill>
              </a:rPr>
              <a:t>Debe comprender, en forma simple: </a:t>
            </a:r>
            <a:endParaRPr/>
          </a:p>
          <a:p>
            <a:pPr indent="-241300" lvl="0" marL="342900" rtl="0" algn="l">
              <a:lnSpc>
                <a:spcPct val="90000"/>
              </a:lnSpc>
              <a:spcBef>
                <a:spcPts val="1000"/>
              </a:spcBef>
              <a:spcAft>
                <a:spcPts val="0"/>
              </a:spcAft>
              <a:buClr>
                <a:srgbClr val="DE3075"/>
              </a:buClr>
              <a:buSzPts val="1200"/>
              <a:buFont typeface="Franklin Gothic"/>
              <a:buChar char="-"/>
            </a:pPr>
            <a:r>
              <a:rPr lang="es-CL">
                <a:solidFill>
                  <a:srgbClr val="002060"/>
                </a:solidFill>
              </a:rPr>
              <a:t>resumen de lo que se aborda y por qué es importante de resolver.</a:t>
            </a:r>
            <a:endParaRPr/>
          </a:p>
          <a:p>
            <a:pPr indent="-241300" lvl="0" marL="342900" rtl="0" algn="l">
              <a:lnSpc>
                <a:spcPct val="90000"/>
              </a:lnSpc>
              <a:spcBef>
                <a:spcPts val="1000"/>
              </a:spcBef>
              <a:spcAft>
                <a:spcPts val="0"/>
              </a:spcAft>
              <a:buClr>
                <a:srgbClr val="DE3075"/>
              </a:buClr>
              <a:buSzPts val="1200"/>
              <a:buFont typeface="Franklin Gothic"/>
              <a:buChar char="-"/>
            </a:pPr>
            <a:r>
              <a:rPr lang="es-CL">
                <a:solidFill>
                  <a:srgbClr val="002060"/>
                </a:solidFill>
              </a:rPr>
              <a:t>Resumen de la solución</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52400" lvl="0" marL="228600" rtl="0" algn="l">
              <a:lnSpc>
                <a:spcPct val="90000"/>
              </a:lnSpc>
              <a:spcBef>
                <a:spcPts val="0"/>
              </a:spcBef>
              <a:spcAft>
                <a:spcPts val="0"/>
              </a:spcAft>
              <a:buClr>
                <a:srgbClr val="002060"/>
              </a:buClr>
              <a:buSzPts val="1200"/>
              <a:buChar char="•"/>
            </a:pPr>
            <a:r>
              <a:rPr lang="es-CL">
                <a:solidFill>
                  <a:srgbClr val="002060"/>
                </a:solidFill>
              </a:rPr>
              <a:t>Se define el entorno del proyecto en que se desarrolla el proyecto y el problema que resolverá . </a:t>
            </a:r>
            <a:endParaRPr>
              <a:latin typeface="Calibri"/>
              <a:ea typeface="Calibri"/>
              <a:cs typeface="Calibri"/>
              <a:sym typeface="Calibri"/>
            </a:endParaRPr>
          </a:p>
          <a:p>
            <a:pPr indent="-152400" lvl="0" marL="228600" rtl="0" algn="l">
              <a:lnSpc>
                <a:spcPct val="90000"/>
              </a:lnSpc>
              <a:spcBef>
                <a:spcPts val="1000"/>
              </a:spcBef>
              <a:spcAft>
                <a:spcPts val="0"/>
              </a:spcAft>
              <a:buClr>
                <a:srgbClr val="002060"/>
              </a:buClr>
              <a:buSzPts val="1200"/>
              <a:buChar char="•"/>
            </a:pPr>
            <a:r>
              <a:rPr lang="es-CL">
                <a:solidFill>
                  <a:srgbClr val="002060"/>
                </a:solidFill>
              </a:rPr>
              <a:t>el problema o necesidad</a:t>
            </a:r>
            <a:endParaRPr>
              <a:solidFill>
                <a:srgbClr val="002060"/>
              </a:solidFill>
            </a:endParaRPr>
          </a:p>
          <a:p>
            <a:pPr indent="-152400" lvl="0" marL="228600" rtl="0" algn="l">
              <a:lnSpc>
                <a:spcPct val="90000"/>
              </a:lnSpc>
              <a:spcBef>
                <a:spcPts val="1000"/>
              </a:spcBef>
              <a:spcAft>
                <a:spcPts val="0"/>
              </a:spcAft>
              <a:buClr>
                <a:srgbClr val="002060"/>
              </a:buClr>
              <a:buSzPts val="1200"/>
              <a:buChar char="•"/>
            </a:pPr>
            <a:r>
              <a:rPr lang="es-CL">
                <a:solidFill>
                  <a:srgbClr val="002060"/>
                </a:solidFill>
              </a:rPr>
              <a:t>Es conveniente hilar con la introducción. </a:t>
            </a:r>
            <a:endParaRPr>
              <a:latin typeface="Calibri"/>
              <a:ea typeface="Calibri"/>
              <a:cs typeface="Calibri"/>
              <a:sym typeface="Calibri"/>
            </a:endParaRPr>
          </a:p>
          <a:p>
            <a:pPr indent="0" lvl="0" marL="0" rtl="0" algn="l">
              <a:spcBef>
                <a:spcPts val="0"/>
              </a:spcBef>
              <a:spcAft>
                <a:spcPts val="0"/>
              </a:spcAft>
              <a:buClr>
                <a:schemeClr val="dk1"/>
              </a:buClr>
              <a:buSzPts val="1200"/>
              <a:buFont typeface="Arial"/>
              <a:buNone/>
            </a:pPr>
            <a:r>
              <a:t/>
            </a:r>
            <a:endParaRPr/>
          </a:p>
        </p:txBody>
      </p:sp>
      <p:sp>
        <p:nvSpPr>
          <p:cNvPr id="105" name="Google Shape;10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Font typeface="Calibri"/>
              <a:buNone/>
            </a:pPr>
            <a:r>
              <a:rPr lang="es-CL" sz="1800">
                <a:latin typeface="Calibri"/>
                <a:ea typeface="Calibri"/>
                <a:cs typeface="Calibri"/>
                <a:sym typeface="Calibri"/>
              </a:rPr>
              <a:t>METODOLOGÍA  DE DESARROLLO</a:t>
            </a:r>
            <a:endParaRPr sz="1400"/>
          </a:p>
          <a:p>
            <a:pPr indent="0" lvl="0" marL="0" rtl="0" algn="l">
              <a:spcBef>
                <a:spcPts val="0"/>
              </a:spcBef>
              <a:spcAft>
                <a:spcPts val="0"/>
              </a:spcAft>
              <a:buClr>
                <a:schemeClr val="dk1"/>
              </a:buClr>
              <a:buSzPts val="1800"/>
              <a:buFont typeface="Calibri"/>
              <a:buNone/>
            </a:pPr>
            <a:r>
              <a:rPr lang="es-CL" sz="1800">
                <a:latin typeface="Calibri"/>
                <a:ea typeface="Calibri"/>
                <a:cs typeface="Calibri"/>
                <a:sym typeface="Calibri"/>
              </a:rPr>
              <a:t>Describir la metodología utilizada y su relación con el proyecto.</a:t>
            </a:r>
            <a:endParaRPr sz="1400"/>
          </a:p>
          <a:p>
            <a:pPr indent="0" lvl="0" marL="0" rtl="0" algn="l">
              <a:spcBef>
                <a:spcPts val="0"/>
              </a:spcBef>
              <a:spcAft>
                <a:spcPts val="0"/>
              </a:spcAft>
              <a:buNone/>
            </a:pPr>
            <a:r>
              <a:rPr lang="es-CL" sz="1800">
                <a:latin typeface="Calibri"/>
                <a:ea typeface="Calibri"/>
                <a:cs typeface="Calibri"/>
                <a:sym typeface="Calibri"/>
              </a:rPr>
              <a:t>Puede ser más de una diapositiva.</a:t>
            </a:r>
            <a:endParaRPr sz="1800">
              <a:latin typeface="Calibri"/>
              <a:ea typeface="Calibri"/>
              <a:cs typeface="Calibri"/>
              <a:sym typeface="Calibri"/>
            </a:endParaRPr>
          </a:p>
          <a:p>
            <a:pPr indent="0" lvl="0" marL="0" rtl="0" algn="l">
              <a:spcBef>
                <a:spcPts val="0"/>
              </a:spcBef>
              <a:spcAft>
                <a:spcPts val="0"/>
              </a:spcAft>
              <a:buClr>
                <a:schemeClr val="dk1"/>
              </a:buClr>
              <a:buSzPts val="1800"/>
              <a:buFont typeface="Calibri"/>
              <a:buNone/>
            </a:pPr>
            <a:r>
              <a:t/>
            </a:r>
            <a:endParaRPr sz="1800">
              <a:latin typeface="Calibri"/>
              <a:ea typeface="Calibri"/>
              <a:cs typeface="Calibri"/>
              <a:sym typeface="Calibri"/>
            </a:endParaRPr>
          </a:p>
          <a:p>
            <a:pPr indent="0" lvl="0" marL="0" rtl="0" algn="l">
              <a:spcBef>
                <a:spcPts val="0"/>
              </a:spcBef>
              <a:spcAft>
                <a:spcPts val="0"/>
              </a:spcAft>
              <a:buClr>
                <a:schemeClr val="dk1"/>
              </a:buClr>
              <a:buFont typeface="Arial"/>
              <a:buNone/>
            </a:pPr>
            <a:r>
              <a:rPr lang="es-CL" sz="1800">
                <a:latin typeface="Calibri"/>
                <a:ea typeface="Calibri"/>
                <a:cs typeface="Calibri"/>
                <a:sym typeface="Calibri"/>
              </a:rPr>
              <a:t>Nombre de estudiante</a:t>
            </a:r>
            <a:endParaRPr sz="1800">
              <a:latin typeface="Calibri"/>
              <a:ea typeface="Calibri"/>
              <a:cs typeface="Calibri"/>
              <a:sym typeface="Calibri"/>
            </a:endParaRPr>
          </a:p>
          <a:p>
            <a:pPr indent="0" lvl="0" marL="0" rtl="0" algn="l">
              <a:spcBef>
                <a:spcPts val="0"/>
              </a:spcBef>
              <a:spcAft>
                <a:spcPts val="0"/>
              </a:spcAft>
              <a:buClr>
                <a:schemeClr val="dk1"/>
              </a:buClr>
              <a:buFont typeface="Arial"/>
              <a:buNone/>
            </a:pPr>
            <a:r>
              <a:rPr lang="es-CL" sz="1800">
                <a:latin typeface="Calibri"/>
                <a:ea typeface="Calibri"/>
                <a:cs typeface="Calibri"/>
                <a:sym typeface="Calibri"/>
              </a:rPr>
              <a:t>Cargo y Funciones desempeñadas</a:t>
            </a:r>
            <a:endParaRPr sz="1800">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sz="1800">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sz="1800">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sz="1800">
              <a:latin typeface="Calibri"/>
              <a:ea typeface="Calibri"/>
              <a:cs typeface="Calibri"/>
              <a:sym typeface="Calibri"/>
            </a:endParaRPr>
          </a:p>
          <a:p>
            <a:pPr indent="0" lvl="0" marL="0" rtl="0" algn="l">
              <a:spcBef>
                <a:spcPts val="0"/>
              </a:spcBef>
              <a:spcAft>
                <a:spcPts val="0"/>
              </a:spcAft>
              <a:buNone/>
            </a:pPr>
            <a:r>
              <a:t/>
            </a:r>
            <a:endParaRPr/>
          </a:p>
        </p:txBody>
      </p:sp>
      <p:sp>
        <p:nvSpPr>
          <p:cNvPr id="113" name="Google Shape;11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CL">
                <a:solidFill>
                  <a:srgbClr val="002060"/>
                </a:solidFill>
                <a:latin typeface="Arial"/>
                <a:ea typeface="Arial"/>
                <a:cs typeface="Arial"/>
                <a:sym typeface="Arial"/>
              </a:rPr>
              <a:t>Componentes </a:t>
            </a:r>
            <a:endParaRPr/>
          </a:p>
          <a:p>
            <a:pPr indent="0" lvl="0" marL="0" rtl="0" algn="l">
              <a:spcBef>
                <a:spcPts val="0"/>
              </a:spcBef>
              <a:spcAft>
                <a:spcPts val="0"/>
              </a:spcAft>
              <a:buNone/>
            </a:pPr>
            <a:r>
              <a:rPr lang="es-CL">
                <a:solidFill>
                  <a:srgbClr val="002060"/>
                </a:solidFill>
                <a:latin typeface="Arial"/>
                <a:ea typeface="Arial"/>
                <a:cs typeface="Arial"/>
                <a:sym typeface="Arial"/>
              </a:rPr>
              <a:t>Es decir, el resumen de aspectos relevantes . </a:t>
            </a:r>
            <a:endParaRPr/>
          </a:p>
          <a:p>
            <a:pPr indent="0" lvl="0" marL="0" rtl="0" algn="l">
              <a:spcBef>
                <a:spcPts val="0"/>
              </a:spcBef>
              <a:spcAft>
                <a:spcPts val="0"/>
              </a:spcAft>
              <a:buNone/>
            </a:pPr>
            <a:r>
              <a:t/>
            </a:r>
            <a:endParaRPr>
              <a:solidFill>
                <a:srgbClr val="002060"/>
              </a:solidFill>
              <a:latin typeface="Arial"/>
              <a:ea typeface="Arial"/>
              <a:cs typeface="Arial"/>
              <a:sym typeface="Arial"/>
            </a:endParaRPr>
          </a:p>
          <a:p>
            <a:pPr indent="0" lvl="0" marL="0" rtl="0" algn="l">
              <a:spcBef>
                <a:spcPts val="0"/>
              </a:spcBef>
              <a:spcAft>
                <a:spcPts val="0"/>
              </a:spcAft>
              <a:buNone/>
            </a:pPr>
            <a:r>
              <a:rPr lang="es-CL">
                <a:solidFill>
                  <a:srgbClr val="002060"/>
                </a:solidFill>
                <a:latin typeface="Arial"/>
                <a:ea typeface="Arial"/>
                <a:cs typeface="Arial"/>
                <a:sym typeface="Arial"/>
              </a:rPr>
              <a:t>Esto implica “LISTAR”</a:t>
            </a:r>
            <a:endParaRPr/>
          </a:p>
          <a:p>
            <a:pPr indent="0" lvl="0" marL="0" rtl="0" algn="l">
              <a:spcBef>
                <a:spcPts val="0"/>
              </a:spcBef>
              <a:spcAft>
                <a:spcPts val="0"/>
              </a:spcAft>
              <a:buNone/>
            </a:pPr>
            <a:r>
              <a:rPr lang="es-CL">
                <a:solidFill>
                  <a:srgbClr val="002060"/>
                </a:solidFill>
                <a:latin typeface="Arial"/>
                <a:ea typeface="Arial"/>
                <a:cs typeface="Arial"/>
                <a:sym typeface="Arial"/>
              </a:rPr>
              <a:t>Arquitectura, Componentes, Estimaciones de Costo, estudios y otros usado en el estudio, panificación y diseño del proyecto </a:t>
            </a:r>
            <a:endParaRPr>
              <a:solidFill>
                <a:srgbClr val="002060"/>
              </a:solidFill>
              <a:latin typeface="Arial"/>
              <a:ea typeface="Arial"/>
              <a:cs typeface="Arial"/>
              <a:sym typeface="Arial"/>
            </a:endParaRPr>
          </a:p>
          <a:p>
            <a:pPr indent="0" lvl="0" marL="0" rtl="0" algn="l">
              <a:spcBef>
                <a:spcPts val="0"/>
              </a:spcBef>
              <a:spcAft>
                <a:spcPts val="0"/>
              </a:spcAft>
              <a:buNone/>
            </a:pPr>
            <a:br>
              <a:rPr lang="es-CL">
                <a:solidFill>
                  <a:srgbClr val="002060"/>
                </a:solidFill>
              </a:rPr>
            </a:br>
            <a:r>
              <a:rPr lang="es-CL">
                <a:solidFill>
                  <a:srgbClr val="002060"/>
                </a:solidFill>
              </a:rPr>
              <a:t>Se describe la propuesta de solución del proyecto. </a:t>
            </a:r>
            <a:endParaRPr/>
          </a:p>
          <a:p>
            <a:pPr indent="0" lvl="0" marL="0" rtl="0" algn="l">
              <a:spcBef>
                <a:spcPts val="0"/>
              </a:spcBef>
              <a:spcAft>
                <a:spcPts val="0"/>
              </a:spcAft>
              <a:buClr>
                <a:schemeClr val="dk1"/>
              </a:buClr>
              <a:buFont typeface="Arial"/>
              <a:buNone/>
            </a:pPr>
            <a:r>
              <a:t/>
            </a:r>
            <a:endParaRPr>
              <a:solidFill>
                <a:srgbClr val="002060"/>
              </a:solidFill>
            </a:endParaRPr>
          </a:p>
          <a:p>
            <a:pPr indent="0" lvl="0" marL="0" rtl="0" algn="l">
              <a:spcBef>
                <a:spcPts val="0"/>
              </a:spcBef>
              <a:spcAft>
                <a:spcPts val="0"/>
              </a:spcAft>
              <a:buClr>
                <a:schemeClr val="dk1"/>
              </a:buClr>
              <a:buFont typeface="Arial"/>
              <a:buNone/>
            </a:pPr>
            <a:r>
              <a:rPr lang="es-CL">
                <a:solidFill>
                  <a:srgbClr val="002060"/>
                </a:solidFill>
              </a:rPr>
              <a:t>Puede usar más diapositivas para hablar se sus componentes  </a:t>
            </a:r>
            <a:endParaRPr>
              <a:solidFill>
                <a:srgbClr val="002060"/>
              </a:solidFill>
            </a:endParaRPr>
          </a:p>
          <a:p>
            <a:pPr indent="0" lvl="0" marL="0" rtl="0" algn="l">
              <a:spcBef>
                <a:spcPts val="0"/>
              </a:spcBef>
              <a:spcAft>
                <a:spcPts val="0"/>
              </a:spcAft>
              <a:buNone/>
            </a:pPr>
            <a:r>
              <a:t/>
            </a:r>
            <a:endParaRPr>
              <a:solidFill>
                <a:srgbClr val="002060"/>
              </a:solidFill>
            </a:endParaRPr>
          </a:p>
          <a:p>
            <a:pPr indent="0" lvl="0" marL="0" rtl="0" algn="l">
              <a:spcBef>
                <a:spcPts val="0"/>
              </a:spcBef>
              <a:spcAft>
                <a:spcPts val="0"/>
              </a:spcAft>
              <a:buNone/>
            </a:pPr>
            <a:r>
              <a:t/>
            </a:r>
            <a:endParaRPr/>
          </a:p>
        </p:txBody>
      </p:sp>
      <p:sp>
        <p:nvSpPr>
          <p:cNvPr id="126" name="Google Shape;12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ac5b913e3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ac5b913e3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3aac5b913e3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CL"/>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9c6152283_0_1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9c6152283_0_1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g3a9c6152283_0_1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CL"/>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ac5b913e3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ac5b913e3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aac5b913e3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CL"/>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ac5b913e3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ac5b913e3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aac5b913e3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CL"/>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a3fffeca4_1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a3fffeca4_1_1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g3aa3fffeca4_1_10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CL"/>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ac5b913e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g3aac5b913e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7" name="Shape 17"/>
        <p:cNvGrpSpPr/>
        <p:nvPr/>
      </p:nvGrpSpPr>
      <p:grpSpPr>
        <a:xfrm>
          <a:off x="0" y="0"/>
          <a:ext cx="0" cy="0"/>
          <a:chOff x="0" y="0"/>
          <a:chExt cx="0" cy="0"/>
        </a:xfrm>
      </p:grpSpPr>
      <p:sp>
        <p:nvSpPr>
          <p:cNvPr id="18" name="Google Shape;18;p3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0"/>
          <p:cNvSpPr txBox="1"/>
          <p:nvPr>
            <p:ph idx="11" type="ftr"/>
          </p:nvPr>
        </p:nvSpPr>
        <p:spPr>
          <a:xfrm>
            <a:off x="3790627" y="170482"/>
            <a:ext cx="4114800" cy="30996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3" name="Shape 23"/>
        <p:cNvGrpSpPr/>
        <p:nvPr/>
      </p:nvGrpSpPr>
      <p:grpSpPr>
        <a:xfrm>
          <a:off x="0" y="0"/>
          <a:ext cx="0" cy="0"/>
          <a:chOff x="0" y="0"/>
          <a:chExt cx="0" cy="0"/>
        </a:xfrm>
      </p:grpSpPr>
      <p:sp>
        <p:nvSpPr>
          <p:cNvPr id="24" name="Google Shape;2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7" name="Shape 2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8" name="Shape 28"/>
        <p:cNvGrpSpPr/>
        <p:nvPr/>
      </p:nvGrpSpPr>
      <p:grpSpPr>
        <a:xfrm>
          <a:off x="0" y="0"/>
          <a:ext cx="0" cy="0"/>
          <a:chOff x="0" y="0"/>
          <a:chExt cx="0" cy="0"/>
        </a:xfrm>
      </p:grpSpPr>
      <p:sp>
        <p:nvSpPr>
          <p:cNvPr id="29" name="Google Shape;29;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4" name="Shape 34"/>
        <p:cNvGrpSpPr/>
        <p:nvPr/>
      </p:nvGrpSpPr>
      <p:grpSpPr>
        <a:xfrm>
          <a:off x="0" y="0"/>
          <a:ext cx="0" cy="0"/>
          <a:chOff x="0" y="0"/>
          <a:chExt cx="0" cy="0"/>
        </a:xfrm>
      </p:grpSpPr>
      <p:sp>
        <p:nvSpPr>
          <p:cNvPr id="35" name="Google Shape;35;p3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0" name="Shape 40"/>
        <p:cNvGrpSpPr/>
        <p:nvPr/>
      </p:nvGrpSpPr>
      <p:grpSpPr>
        <a:xfrm>
          <a:off x="0" y="0"/>
          <a:ext cx="0" cy="0"/>
          <a:chOff x="0" y="0"/>
          <a:chExt cx="0" cy="0"/>
        </a:xfrm>
      </p:grpSpPr>
      <p:sp>
        <p:nvSpPr>
          <p:cNvPr id="41" name="Google Shape;41;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3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7" name="Shape 47"/>
        <p:cNvGrpSpPr/>
        <p:nvPr/>
      </p:nvGrpSpPr>
      <p:grpSpPr>
        <a:xfrm>
          <a:off x="0" y="0"/>
          <a:ext cx="0" cy="0"/>
          <a:chOff x="0" y="0"/>
          <a:chExt cx="0" cy="0"/>
        </a:xfrm>
      </p:grpSpPr>
      <p:sp>
        <p:nvSpPr>
          <p:cNvPr id="48" name="Google Shape;48;p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6" name="Shape 56"/>
        <p:cNvGrpSpPr/>
        <p:nvPr/>
      </p:nvGrpSpPr>
      <p:grpSpPr>
        <a:xfrm>
          <a:off x="0" y="0"/>
          <a:ext cx="0" cy="0"/>
          <a:chOff x="0" y="0"/>
          <a:chExt cx="0" cy="0"/>
        </a:xfrm>
      </p:grpSpPr>
      <p:sp>
        <p:nvSpPr>
          <p:cNvPr id="57" name="Google Shape;57;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1" name="Shape 61"/>
        <p:cNvGrpSpPr/>
        <p:nvPr/>
      </p:nvGrpSpPr>
      <p:grpSpPr>
        <a:xfrm>
          <a:off x="0" y="0"/>
          <a:ext cx="0" cy="0"/>
          <a:chOff x="0" y="0"/>
          <a:chExt cx="0" cy="0"/>
        </a:xfrm>
      </p:grpSpPr>
      <p:sp>
        <p:nvSpPr>
          <p:cNvPr id="62" name="Google Shape;62;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3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8" name="Shape 68"/>
        <p:cNvGrpSpPr/>
        <p:nvPr/>
      </p:nvGrpSpPr>
      <p:grpSpPr>
        <a:xfrm>
          <a:off x="0" y="0"/>
          <a:ext cx="0" cy="0"/>
          <a:chOff x="0" y="0"/>
          <a:chExt cx="0" cy="0"/>
        </a:xfrm>
      </p:grpSpPr>
      <p:sp>
        <p:nvSpPr>
          <p:cNvPr id="69" name="Google Shape;69;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9"/>
          <p:cNvSpPr/>
          <p:nvPr>
            <p:ph idx="2" type="pic"/>
          </p:nvPr>
        </p:nvSpPr>
        <p:spPr>
          <a:xfrm>
            <a:off x="5183188" y="987425"/>
            <a:ext cx="6172200" cy="4873625"/>
          </a:xfrm>
          <a:prstGeom prst="rect">
            <a:avLst/>
          </a:prstGeom>
          <a:noFill/>
          <a:ln>
            <a:noFill/>
          </a:ln>
        </p:spPr>
      </p:sp>
      <p:sp>
        <p:nvSpPr>
          <p:cNvPr id="71" name="Google Shape;71;p3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5" name="Shape 75"/>
        <p:cNvGrpSpPr/>
        <p:nvPr/>
      </p:nvGrpSpPr>
      <p:grpSpPr>
        <a:xfrm>
          <a:off x="0" y="0"/>
          <a:ext cx="0" cy="0"/>
          <a:chOff x="0" y="0"/>
          <a:chExt cx="0" cy="0"/>
        </a:xfrm>
      </p:grpSpPr>
      <p:sp>
        <p:nvSpPr>
          <p:cNvPr id="76" name="Google Shape;76;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4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1" name="Shape 81"/>
        <p:cNvGrpSpPr/>
        <p:nvPr/>
      </p:nvGrpSpPr>
      <p:grpSpPr>
        <a:xfrm>
          <a:off x="0" y="0"/>
          <a:ext cx="0" cy="0"/>
          <a:chOff x="0" y="0"/>
          <a:chExt cx="0" cy="0"/>
        </a:xfrm>
      </p:grpSpPr>
      <p:sp>
        <p:nvSpPr>
          <p:cNvPr id="82" name="Google Shape;82;p4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4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transition spd="slow">
    <p:wipe dir="l"/>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11.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pic>
        <p:nvPicPr>
          <p:cNvPr id="15" name="Google Shape;15;p29"/>
          <p:cNvPicPr preferRelativeResize="0"/>
          <p:nvPr/>
        </p:nvPicPr>
        <p:blipFill rotWithShape="1">
          <a:blip r:embed="rId1">
            <a:alphaModFix/>
          </a:blip>
          <a:srcRect b="0" l="0" r="0" t="0"/>
          <a:stretch/>
        </p:blipFill>
        <p:spPr>
          <a:xfrm>
            <a:off x="0" y="125589"/>
            <a:ext cx="1923566" cy="740488"/>
          </a:xfrm>
          <a:prstGeom prst="rect">
            <a:avLst/>
          </a:prstGeom>
          <a:noFill/>
          <a:ln>
            <a:noFill/>
          </a:ln>
        </p:spPr>
      </p:pic>
      <p:pic>
        <p:nvPicPr>
          <p:cNvPr descr="EscuelaIT Duoc UC - Escuela de Informática y Telecomunicaciones Duoc UC - Duoc  UC | LinkedIn" id="16" name="Google Shape;16;p29"/>
          <p:cNvPicPr preferRelativeResize="0"/>
          <p:nvPr/>
        </p:nvPicPr>
        <p:blipFill rotWithShape="1">
          <a:blip r:embed="rId2">
            <a:alphaModFix/>
          </a:blip>
          <a:srcRect b="0" l="0" r="0" t="0"/>
          <a:stretch/>
        </p:blipFill>
        <p:spPr>
          <a:xfrm>
            <a:off x="8833617" y="125589"/>
            <a:ext cx="3141406" cy="78535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nvSpPr>
        <p:spPr>
          <a:xfrm>
            <a:off x="1" y="893192"/>
            <a:ext cx="12192000" cy="1493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s-CL" sz="3500" u="none" cap="none" strike="noStrike">
                <a:solidFill>
                  <a:schemeClr val="dk1"/>
                </a:solidFill>
                <a:latin typeface="Calibri"/>
                <a:ea typeface="Calibri"/>
                <a:cs typeface="Calibri"/>
                <a:sym typeface="Calibri"/>
              </a:rPr>
              <a:t> “</a:t>
            </a:r>
            <a:r>
              <a:rPr lang="es-CL" sz="3500">
                <a:solidFill>
                  <a:schemeClr val="dk1"/>
                </a:solidFill>
                <a:latin typeface="Calibri"/>
                <a:ea typeface="Calibri"/>
                <a:cs typeface="Calibri"/>
                <a:sym typeface="Calibri"/>
              </a:rPr>
              <a:t>Plataforma para la automatización de solicitudes de insumos tecnológicos</a:t>
            </a:r>
            <a:r>
              <a:rPr i="0" lang="es-CL" sz="3500" u="none" cap="none" strike="noStrike">
                <a:solidFill>
                  <a:schemeClr val="dk1"/>
                </a:solidFill>
                <a:latin typeface="Calibri"/>
                <a:ea typeface="Calibri"/>
                <a:cs typeface="Calibri"/>
                <a:sym typeface="Calibri"/>
              </a:rPr>
              <a:t>”</a:t>
            </a:r>
            <a:endParaRPr sz="3500">
              <a:latin typeface="Calibri"/>
              <a:ea typeface="Calibri"/>
              <a:cs typeface="Calibri"/>
              <a:sym typeface="Calibri"/>
            </a:endParaRPr>
          </a:p>
          <a:p>
            <a:pPr indent="0" lvl="0" marL="0" marR="0" rtl="0" algn="ctr">
              <a:spcBef>
                <a:spcPts val="0"/>
              </a:spcBef>
              <a:spcAft>
                <a:spcPts val="0"/>
              </a:spcAft>
              <a:buNone/>
            </a:pPr>
            <a:r>
              <a:rPr b="0" i="0" lang="es-CL" sz="2100" u="none" cap="none" strike="noStrike">
                <a:solidFill>
                  <a:schemeClr val="dk1"/>
                </a:solidFill>
                <a:latin typeface="Calibri"/>
                <a:ea typeface="Calibri"/>
                <a:cs typeface="Calibri"/>
                <a:sym typeface="Calibri"/>
              </a:rPr>
              <a:t>PRESENTACIÓN FINAL CAPSTONE</a:t>
            </a:r>
            <a:endParaRPr b="0" i="0" sz="2100" u="none" cap="none" strike="noStrike">
              <a:solidFill>
                <a:schemeClr val="dk1"/>
              </a:solidFill>
              <a:latin typeface="Calibri"/>
              <a:ea typeface="Calibri"/>
              <a:cs typeface="Calibri"/>
              <a:sym typeface="Calibri"/>
            </a:endParaRPr>
          </a:p>
        </p:txBody>
      </p:sp>
      <p:sp>
        <p:nvSpPr>
          <p:cNvPr id="92" name="Google Shape;92;p1"/>
          <p:cNvSpPr txBox="1"/>
          <p:nvPr/>
        </p:nvSpPr>
        <p:spPr>
          <a:xfrm>
            <a:off x="2326800" y="2501650"/>
            <a:ext cx="7538400" cy="3828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s-CL" sz="1867" u="none" cap="none" strike="noStrike">
                <a:solidFill>
                  <a:schemeClr val="dk1"/>
                </a:solidFill>
                <a:latin typeface="Calibri"/>
                <a:ea typeface="Calibri"/>
                <a:cs typeface="Calibri"/>
                <a:sym typeface="Calibri"/>
              </a:rPr>
              <a:t>Docente</a:t>
            </a:r>
            <a:endParaRPr b="1"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lang="es-CL" sz="1867">
                <a:solidFill>
                  <a:schemeClr val="dk1"/>
                </a:solidFill>
                <a:latin typeface="Calibri"/>
                <a:ea typeface="Calibri"/>
                <a:cs typeface="Calibri"/>
                <a:sym typeface="Calibri"/>
              </a:rPr>
              <a:t>Marcela Orellana Silva</a:t>
            </a:r>
            <a:endParaRPr b="0"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t/>
            </a:r>
            <a:endParaRPr b="0"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1" i="0" lang="es-CL" sz="1867" u="none" cap="none" strike="noStrike">
                <a:solidFill>
                  <a:schemeClr val="dk1"/>
                </a:solidFill>
                <a:latin typeface="Calibri"/>
                <a:ea typeface="Calibri"/>
                <a:cs typeface="Calibri"/>
                <a:sym typeface="Calibri"/>
              </a:rPr>
              <a:t>Equipo alumnos</a:t>
            </a:r>
            <a:endParaRPr b="1" i="0" sz="1867" u="none" cap="none" strike="noStrike">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s-CL" sz="1800">
                <a:solidFill>
                  <a:schemeClr val="dk1"/>
                </a:solidFill>
                <a:latin typeface="Calibri"/>
                <a:ea typeface="Calibri"/>
                <a:cs typeface="Calibri"/>
                <a:sym typeface="Calibri"/>
              </a:rPr>
              <a:t>Camilo Chavez Chavez</a:t>
            </a:r>
            <a:endParaRPr sz="18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s-CL" sz="1800">
                <a:solidFill>
                  <a:schemeClr val="dk1"/>
                </a:solidFill>
                <a:latin typeface="Calibri"/>
                <a:ea typeface="Calibri"/>
                <a:cs typeface="Calibri"/>
                <a:sym typeface="Calibri"/>
              </a:rPr>
              <a:t>Hugo González Yáñez</a:t>
            </a:r>
            <a:endParaRPr sz="18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s-CL" sz="1800">
                <a:solidFill>
                  <a:schemeClr val="dk1"/>
                </a:solidFill>
                <a:latin typeface="Calibri"/>
                <a:ea typeface="Calibri"/>
                <a:cs typeface="Calibri"/>
                <a:sym typeface="Calibri"/>
              </a:rPr>
              <a:t>Diego Osores Guzman</a:t>
            </a:r>
            <a:endParaRPr sz="1800">
              <a:solidFill>
                <a:schemeClr val="dk1"/>
              </a:solidFill>
              <a:latin typeface="Calibri"/>
              <a:ea typeface="Calibri"/>
              <a:cs typeface="Calibri"/>
              <a:sym typeface="Calibri"/>
            </a:endParaRPr>
          </a:p>
          <a:p>
            <a:pPr indent="0" lvl="0" marL="0" rtl="0" algn="ctr">
              <a:spcBef>
                <a:spcPts val="0"/>
              </a:spcBef>
              <a:spcAft>
                <a:spcPts val="0"/>
              </a:spcAft>
              <a:buSzPts val="1100"/>
              <a:buNone/>
            </a:pPr>
            <a:r>
              <a:rPr lang="es-CL" sz="1800">
                <a:solidFill>
                  <a:schemeClr val="dk1"/>
                </a:solidFill>
                <a:latin typeface="Calibri"/>
                <a:ea typeface="Calibri"/>
                <a:cs typeface="Calibri"/>
                <a:sym typeface="Calibri"/>
              </a:rPr>
              <a:t>Bayron Ventura González</a:t>
            </a:r>
            <a:endParaRPr sz="1800">
              <a:solidFill>
                <a:schemeClr val="dk1"/>
              </a:solidFill>
              <a:latin typeface="Calibri"/>
              <a:ea typeface="Calibri"/>
              <a:cs typeface="Calibri"/>
              <a:sym typeface="Calibri"/>
            </a:endParaRPr>
          </a:p>
          <a:p>
            <a:pPr indent="0" lvl="0" marL="0" rtl="0" algn="ctr">
              <a:spcBef>
                <a:spcPts val="0"/>
              </a:spcBef>
              <a:spcAft>
                <a:spcPts val="0"/>
              </a:spcAft>
              <a:buSzPts val="1100"/>
              <a:buNone/>
            </a:pPr>
            <a:r>
              <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b="1" i="0" lang="es-CL" sz="1867" u="none" cap="none" strike="noStrike">
                <a:solidFill>
                  <a:schemeClr val="dk1"/>
                </a:solidFill>
                <a:latin typeface="Calibri"/>
                <a:ea typeface="Calibri"/>
                <a:cs typeface="Calibri"/>
                <a:sym typeface="Calibri"/>
              </a:rPr>
              <a:t>Duoc UC Sede San Bernardo </a:t>
            </a:r>
            <a:endParaRPr/>
          </a:p>
          <a:p>
            <a:pPr indent="0" lvl="0" marL="0" marR="0" rtl="0" algn="ctr">
              <a:spcBef>
                <a:spcPts val="0"/>
              </a:spcBef>
              <a:spcAft>
                <a:spcPts val="0"/>
              </a:spcAft>
              <a:buNone/>
            </a:pPr>
            <a:r>
              <a:rPr b="0" i="0" lang="es-CL" sz="1867" u="none" cap="none" strike="noStrike">
                <a:solidFill>
                  <a:schemeClr val="dk1"/>
                </a:solidFill>
                <a:latin typeface="Calibri"/>
                <a:ea typeface="Calibri"/>
                <a:cs typeface="Calibri"/>
                <a:sym typeface="Calibri"/>
              </a:rPr>
              <a:t>Escuela de Informática y Telecomunicaciones</a:t>
            </a:r>
            <a:endParaRPr/>
          </a:p>
          <a:p>
            <a:pPr indent="0" lvl="0" marL="0" marR="0" rtl="0" algn="ctr">
              <a:spcBef>
                <a:spcPts val="0"/>
              </a:spcBef>
              <a:spcAft>
                <a:spcPts val="0"/>
              </a:spcAft>
              <a:buNone/>
            </a:pPr>
            <a:r>
              <a:rPr b="0" i="0" lang="es-CL" sz="1867" u="none" cap="none" strike="noStrike">
                <a:solidFill>
                  <a:schemeClr val="dk1"/>
                </a:solidFill>
                <a:latin typeface="Calibri"/>
                <a:ea typeface="Calibri"/>
                <a:cs typeface="Calibri"/>
                <a:sym typeface="Calibri"/>
              </a:rPr>
              <a:t>Ingeniería en Informática</a:t>
            </a:r>
            <a:endParaRPr/>
          </a:p>
          <a:p>
            <a:pPr indent="0" lvl="0" marL="0" marR="0" rtl="0" algn="ctr">
              <a:spcBef>
                <a:spcPts val="0"/>
              </a:spcBef>
              <a:spcAft>
                <a:spcPts val="0"/>
              </a:spcAft>
              <a:buNone/>
            </a:pPr>
            <a:r>
              <a:rPr b="0" i="0" lang="es-CL" sz="1867" u="none" cap="none" strike="noStrike">
                <a:solidFill>
                  <a:schemeClr val="dk1"/>
                </a:solidFill>
                <a:latin typeface="Calibri"/>
                <a:ea typeface="Calibri"/>
                <a:cs typeface="Calibri"/>
                <a:sym typeface="Calibri"/>
              </a:rPr>
              <a:t>2025</a:t>
            </a:r>
            <a:endParaRPr b="0" i="0" sz="1867"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t/>
            </a:r>
            <a:endParaRPr b="0" i="0" sz="933" u="none" cap="none" strike="noStrike">
              <a:solidFill>
                <a:schemeClr val="dk1"/>
              </a:solidFill>
              <a:latin typeface="Calibri"/>
              <a:ea typeface="Calibri"/>
              <a:cs typeface="Calibri"/>
              <a:sym typeface="Calibri"/>
            </a:endParaRPr>
          </a:p>
        </p:txBody>
      </p:sp>
      <p:sp>
        <p:nvSpPr>
          <p:cNvPr id="93" name="Google Shape;93;p1"/>
          <p:cNvSpPr/>
          <p:nvPr/>
        </p:nvSpPr>
        <p:spPr>
          <a:xfrm rot="-5400000">
            <a:off x="6154970" y="671069"/>
            <a:ext cx="151882" cy="12192001"/>
          </a:xfrm>
          <a:custGeom>
            <a:rect b="b" l="l" r="r" t="t"/>
            <a:pathLst>
              <a:path extrusionOk="0" h="5624919" w="587437">
                <a:moveTo>
                  <a:pt x="0" y="0"/>
                </a:moveTo>
                <a:lnTo>
                  <a:pt x="587437" y="0"/>
                </a:lnTo>
                <a:lnTo>
                  <a:pt x="587437" y="5624919"/>
                </a:lnTo>
                <a:lnTo>
                  <a:pt x="0" y="5624919"/>
                </a:lnTo>
                <a:lnTo>
                  <a:pt x="0" y="0"/>
                </a:lnTo>
                <a:close/>
              </a:path>
            </a:pathLst>
          </a:custGeom>
          <a:blipFill rotWithShape="1">
            <a:blip r:embed="rId3">
              <a:alphaModFix/>
            </a:blip>
            <a:stretch>
              <a:fillRect b="-21584" l="-1943447" r="-23081924" t="-343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933">
              <a:solidFill>
                <a:schemeClr val="dk1"/>
              </a:solidFill>
              <a:latin typeface="Calibri"/>
              <a:ea typeface="Calibri"/>
              <a:cs typeface="Calibri"/>
              <a:sym typeface="Calibri"/>
            </a:endParaRPr>
          </a:p>
        </p:txBody>
      </p:sp>
      <p:sp>
        <p:nvSpPr>
          <p:cNvPr id="94" name="Google Shape;94;p1"/>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nvSpPr>
        <p:spPr>
          <a:xfrm>
            <a:off x="3720125" y="596850"/>
            <a:ext cx="4255800" cy="630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500">
                <a:solidFill>
                  <a:schemeClr val="dk1"/>
                </a:solidFill>
                <a:latin typeface="Calibri"/>
                <a:ea typeface="Calibri"/>
                <a:cs typeface="Calibri"/>
                <a:sym typeface="Calibri"/>
              </a:rPr>
              <a:t>Introducción</a:t>
            </a:r>
            <a:endParaRPr sz="1700">
              <a:solidFill>
                <a:schemeClr val="dk1"/>
              </a:solidFill>
              <a:latin typeface="Calibri"/>
              <a:ea typeface="Calibri"/>
              <a:cs typeface="Calibri"/>
              <a:sym typeface="Calibri"/>
            </a:endParaRPr>
          </a:p>
        </p:txBody>
      </p:sp>
      <p:pic>
        <p:nvPicPr>
          <p:cNvPr id="100" name="Google Shape;100;p2" title="implementos.jpg"/>
          <p:cNvPicPr preferRelativeResize="0"/>
          <p:nvPr/>
        </p:nvPicPr>
        <p:blipFill>
          <a:blip r:embed="rId3">
            <a:alphaModFix/>
          </a:blip>
          <a:stretch>
            <a:fillRect/>
          </a:stretch>
        </p:blipFill>
        <p:spPr>
          <a:xfrm>
            <a:off x="291238" y="1617700"/>
            <a:ext cx="4929900" cy="3697500"/>
          </a:xfrm>
          <a:prstGeom prst="roundRect">
            <a:avLst>
              <a:gd fmla="val 16667" name="adj"/>
            </a:avLst>
          </a:prstGeom>
          <a:noFill/>
          <a:ln>
            <a:noFill/>
          </a:ln>
        </p:spPr>
      </p:pic>
      <p:sp>
        <p:nvSpPr>
          <p:cNvPr id="101" name="Google Shape;101;p2"/>
          <p:cNvSpPr txBox="1"/>
          <p:nvPr/>
        </p:nvSpPr>
        <p:spPr>
          <a:xfrm>
            <a:off x="5410263" y="1542813"/>
            <a:ext cx="6490500" cy="37248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200"/>
              </a:spcBef>
              <a:spcAft>
                <a:spcPts val="0"/>
              </a:spcAft>
              <a:buNone/>
            </a:pPr>
            <a:r>
              <a:rPr lang="es-CL" sz="1500">
                <a:solidFill>
                  <a:schemeClr val="dk1"/>
                </a:solidFill>
                <a:latin typeface="Calibri"/>
                <a:ea typeface="Calibri"/>
                <a:cs typeface="Calibri"/>
                <a:sym typeface="Calibri"/>
              </a:rPr>
              <a:t>El proyecto se centra en la automatización de las solicitudes de insumos tecnológicos en Implementos Epysa S.A, un proceso que actualmente se realiza mediante correos y planillas, generando retrasos, duplicidad de registros, pérdida de información y falta de control del inventario en tiempo real.</a:t>
            </a:r>
            <a:br>
              <a:rPr lang="es-CL" sz="1500">
                <a:solidFill>
                  <a:schemeClr val="dk1"/>
                </a:solidFill>
                <a:latin typeface="Calibri"/>
                <a:ea typeface="Calibri"/>
                <a:cs typeface="Calibri"/>
                <a:sym typeface="Calibri"/>
              </a:rPr>
            </a:br>
            <a:endParaRPr sz="1500">
              <a:solidFill>
                <a:schemeClr val="dk1"/>
              </a:solidFill>
              <a:latin typeface="Calibri"/>
              <a:ea typeface="Calibri"/>
              <a:cs typeface="Calibri"/>
              <a:sym typeface="Calibri"/>
            </a:endParaRPr>
          </a:p>
          <a:p>
            <a:pPr indent="0" lvl="0" marL="0" rtl="0" algn="l">
              <a:lnSpc>
                <a:spcPct val="100000"/>
              </a:lnSpc>
              <a:spcBef>
                <a:spcPts val="1200"/>
              </a:spcBef>
              <a:spcAft>
                <a:spcPts val="0"/>
              </a:spcAft>
              <a:buNone/>
            </a:pPr>
            <a:r>
              <a:rPr lang="es-CL" sz="1500">
                <a:solidFill>
                  <a:schemeClr val="dk1"/>
                </a:solidFill>
                <a:latin typeface="Calibri"/>
                <a:ea typeface="Calibri"/>
                <a:cs typeface="Calibri"/>
                <a:sym typeface="Calibri"/>
              </a:rPr>
              <a:t>Resolver esta problemática es fundamental, ya que afecta la continuidad operativa, dificulta la planificación y limita la capacidad de respuesta de la empresa.</a:t>
            </a:r>
            <a:endParaRPr sz="1500">
              <a:solidFill>
                <a:schemeClr val="dk1"/>
              </a:solidFill>
              <a:latin typeface="Calibri"/>
              <a:ea typeface="Calibri"/>
              <a:cs typeface="Calibri"/>
              <a:sym typeface="Calibri"/>
            </a:endParaRPr>
          </a:p>
          <a:p>
            <a:pPr indent="0" lvl="0" marL="0" rtl="0" algn="l">
              <a:lnSpc>
                <a:spcPct val="100000"/>
              </a:lnSpc>
              <a:spcBef>
                <a:spcPts val="1200"/>
              </a:spcBef>
              <a:spcAft>
                <a:spcPts val="1200"/>
              </a:spcAft>
              <a:buNone/>
            </a:pPr>
            <a:r>
              <a:rPr lang="es-CL" sz="1500">
                <a:solidFill>
                  <a:schemeClr val="dk1"/>
                </a:solidFill>
                <a:latin typeface="Calibri"/>
                <a:ea typeface="Calibri"/>
                <a:cs typeface="Calibri"/>
                <a:sym typeface="Calibri"/>
              </a:rPr>
              <a:t>Para abordar esta necesidad, el proyecto propone una plataforma web full-stack que integra solicitudes centralizadas, inventario en tiempo real, priorización automática, notificaciones internas y reportes estratégicos.</a:t>
            </a:r>
            <a:br>
              <a:rPr lang="es-CL" sz="1500">
                <a:solidFill>
                  <a:schemeClr val="dk1"/>
                </a:solidFill>
                <a:latin typeface="Calibri"/>
                <a:ea typeface="Calibri"/>
                <a:cs typeface="Calibri"/>
                <a:sym typeface="Calibri"/>
              </a:rPr>
            </a:br>
            <a:r>
              <a:rPr lang="es-CL" sz="1500">
                <a:solidFill>
                  <a:schemeClr val="dk1"/>
                </a:solidFill>
                <a:latin typeface="Calibri"/>
                <a:ea typeface="Calibri"/>
                <a:cs typeface="Calibri"/>
                <a:sym typeface="Calibri"/>
              </a:rPr>
              <a:t> Esta solución permite reducir errores administrativos, optimizar los tiempos de atención y fortalecer la trazabilidad, apoyando directamente la transformación digital de la empresa.</a:t>
            </a:r>
            <a:endParaRPr sz="1500">
              <a:solidFill>
                <a:schemeClr val="dk1"/>
              </a:solidFill>
              <a:latin typeface="Calibri"/>
              <a:ea typeface="Calibri"/>
              <a:cs typeface="Calibri"/>
              <a:sym typeface="Calibri"/>
            </a:endParaRPr>
          </a:p>
        </p:txBody>
      </p:sp>
      <p:sp>
        <p:nvSpPr>
          <p:cNvPr id="102" name="Google Shape;102;p2"/>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nvSpPr>
        <p:spPr>
          <a:xfrm>
            <a:off x="2167625" y="596850"/>
            <a:ext cx="7458000" cy="630900"/>
          </a:xfrm>
          <a:prstGeom prst="rect">
            <a:avLst/>
          </a:prstGeom>
          <a:noFill/>
          <a:ln>
            <a:noFill/>
          </a:ln>
        </p:spPr>
        <p:txBody>
          <a:bodyPr anchorCtr="0" anchor="t" bIns="45700" lIns="91425" spcFirstLastPara="1" rIns="91425" wrap="square" tIns="45700">
            <a:spAutoFit/>
          </a:bodyPr>
          <a:lstStyle/>
          <a:p>
            <a:pPr indent="450850" lvl="0" marL="0" rtl="0" algn="ctr">
              <a:spcBef>
                <a:spcPts val="0"/>
              </a:spcBef>
              <a:spcAft>
                <a:spcPts val="0"/>
              </a:spcAft>
              <a:buSzPts val="4800"/>
              <a:buNone/>
            </a:pPr>
            <a:r>
              <a:rPr lang="es-CL" sz="3500">
                <a:solidFill>
                  <a:schemeClr val="dk1"/>
                </a:solidFill>
                <a:latin typeface="Calibri"/>
                <a:ea typeface="Calibri"/>
                <a:cs typeface="Calibri"/>
                <a:sym typeface="Calibri"/>
              </a:rPr>
              <a:t>Definición del contexto</a:t>
            </a:r>
            <a:endParaRPr sz="3500">
              <a:solidFill>
                <a:schemeClr val="dk1"/>
              </a:solidFill>
              <a:latin typeface="Calibri"/>
              <a:ea typeface="Calibri"/>
              <a:cs typeface="Calibri"/>
              <a:sym typeface="Calibri"/>
            </a:endParaRPr>
          </a:p>
        </p:txBody>
      </p:sp>
      <p:pic>
        <p:nvPicPr>
          <p:cNvPr id="108" name="Google Shape;108;p3" title="implementos.jpg"/>
          <p:cNvPicPr preferRelativeResize="0"/>
          <p:nvPr/>
        </p:nvPicPr>
        <p:blipFill>
          <a:blip r:embed="rId3">
            <a:alphaModFix/>
          </a:blip>
          <a:stretch>
            <a:fillRect/>
          </a:stretch>
        </p:blipFill>
        <p:spPr>
          <a:xfrm>
            <a:off x="291238" y="1617700"/>
            <a:ext cx="4929900" cy="3697500"/>
          </a:xfrm>
          <a:prstGeom prst="roundRect">
            <a:avLst>
              <a:gd fmla="val 16667" name="adj"/>
            </a:avLst>
          </a:prstGeom>
          <a:noFill/>
          <a:ln>
            <a:noFill/>
          </a:ln>
        </p:spPr>
      </p:pic>
      <p:sp>
        <p:nvSpPr>
          <p:cNvPr id="109" name="Google Shape;109;p3"/>
          <p:cNvSpPr txBox="1"/>
          <p:nvPr/>
        </p:nvSpPr>
        <p:spPr>
          <a:xfrm>
            <a:off x="5523150" y="1617700"/>
            <a:ext cx="6221100" cy="364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CL" sz="1500">
                <a:solidFill>
                  <a:schemeClr val="dk1"/>
                </a:solidFill>
                <a:latin typeface="Calibri"/>
                <a:ea typeface="Calibri"/>
                <a:cs typeface="Calibri"/>
                <a:sym typeface="Calibri"/>
              </a:rPr>
              <a:t>Implementos Epysa S.A, donde la gestión de solicitudes de insumos tecnológicos se realiza de manera manual mediante correos y planillas, según se describe en el informe.</a:t>
            </a:r>
            <a:endParaRPr sz="15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rPr lang="es-CL" sz="1500">
                <a:solidFill>
                  <a:schemeClr val="dk1"/>
                </a:solidFill>
                <a:latin typeface="Calibri"/>
                <a:ea typeface="Calibri"/>
                <a:cs typeface="Calibri"/>
                <a:sym typeface="Calibri"/>
              </a:rPr>
              <a:t>Problema o necesidad:</a:t>
            </a:r>
            <a:br>
              <a:rPr lang="es-CL" sz="1500">
                <a:solidFill>
                  <a:schemeClr val="dk1"/>
                </a:solidFill>
                <a:latin typeface="Calibri"/>
                <a:ea typeface="Calibri"/>
                <a:cs typeface="Calibri"/>
                <a:sym typeface="Calibri"/>
              </a:rPr>
            </a:br>
            <a:r>
              <a:rPr lang="es-CL" sz="1500">
                <a:solidFill>
                  <a:schemeClr val="dk1"/>
                </a:solidFill>
                <a:latin typeface="Calibri"/>
                <a:ea typeface="Calibri"/>
                <a:cs typeface="Calibri"/>
                <a:sym typeface="Calibri"/>
              </a:rPr>
              <a:t>Este proceso manual genera retrasos, duplicidad de registros, pérdida de información y falta de control del inventario en tiempo real, afectando la continuidad operativa de la empresa.</a:t>
            </a:r>
            <a:endParaRPr sz="1500">
              <a:solidFill>
                <a:schemeClr val="dk1"/>
              </a:solidFill>
              <a:latin typeface="Calibri"/>
              <a:ea typeface="Calibri"/>
              <a:cs typeface="Calibri"/>
              <a:sym typeface="Calibri"/>
            </a:endParaRPr>
          </a:p>
          <a:p>
            <a:pPr indent="0" lvl="0" marL="0" rtl="0" algn="l">
              <a:lnSpc>
                <a:spcPct val="115000"/>
              </a:lnSpc>
              <a:spcBef>
                <a:spcPts val="1200"/>
              </a:spcBef>
              <a:spcAft>
                <a:spcPts val="1200"/>
              </a:spcAft>
              <a:buNone/>
            </a:pPr>
            <a:br>
              <a:rPr lang="es-CL" sz="1500">
                <a:solidFill>
                  <a:schemeClr val="dk1"/>
                </a:solidFill>
                <a:latin typeface="Calibri"/>
                <a:ea typeface="Calibri"/>
                <a:cs typeface="Calibri"/>
                <a:sym typeface="Calibri"/>
              </a:rPr>
            </a:br>
            <a:r>
              <a:rPr lang="es-CL" sz="1500">
                <a:solidFill>
                  <a:schemeClr val="dk1"/>
                </a:solidFill>
                <a:latin typeface="Calibri"/>
                <a:ea typeface="Calibri"/>
                <a:cs typeface="Calibri"/>
                <a:sym typeface="Calibri"/>
              </a:rPr>
              <a:t>Tal como se señala en la introducción, estas limitaciones evidencian la necesidad de una plataforma que </a:t>
            </a:r>
            <a:r>
              <a:rPr lang="es-CL" sz="1500">
                <a:solidFill>
                  <a:schemeClr val="dk1"/>
                </a:solidFill>
                <a:latin typeface="Calibri"/>
                <a:ea typeface="Calibri"/>
                <a:cs typeface="Calibri"/>
                <a:sym typeface="Calibri"/>
              </a:rPr>
              <a:t>automatiza</a:t>
            </a:r>
            <a:r>
              <a:rPr lang="es-CL" sz="1500">
                <a:solidFill>
                  <a:schemeClr val="dk1"/>
                </a:solidFill>
                <a:latin typeface="Calibri"/>
                <a:ea typeface="Calibri"/>
                <a:cs typeface="Calibri"/>
                <a:sym typeface="Calibri"/>
              </a:rPr>
              <a:t> y estandarice el proceso, asegurando eficiencia, trazabilidad y apoyo a la transformación digital de Epysa S.A.</a:t>
            </a:r>
            <a:endParaRPr sz="1500">
              <a:solidFill>
                <a:schemeClr val="dk1"/>
              </a:solidFill>
              <a:latin typeface="Calibri"/>
              <a:ea typeface="Calibri"/>
              <a:cs typeface="Calibri"/>
              <a:sym typeface="Calibri"/>
            </a:endParaRPr>
          </a:p>
        </p:txBody>
      </p:sp>
      <p:sp>
        <p:nvSpPr>
          <p:cNvPr id="110" name="Google Shape;110;p3"/>
          <p:cNvSpPr txBox="1"/>
          <p:nvPr>
            <p:ph idx="4294967295"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7"/>
          <p:cNvSpPr txBox="1"/>
          <p:nvPr/>
        </p:nvSpPr>
        <p:spPr>
          <a:xfrm>
            <a:off x="76625" y="4033675"/>
            <a:ext cx="5132700" cy="216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CL" sz="1500">
                <a:solidFill>
                  <a:schemeClr val="dk1"/>
                </a:solidFill>
                <a:latin typeface="Calibri"/>
                <a:ea typeface="Calibri"/>
                <a:cs typeface="Calibri"/>
                <a:sym typeface="Calibri"/>
              </a:rPr>
              <a:t>Metodología iterativa</a:t>
            </a:r>
            <a:r>
              <a:rPr lang="es-CL" sz="1500">
                <a:solidFill>
                  <a:schemeClr val="dk1"/>
                </a:solidFill>
                <a:latin typeface="Calibri"/>
                <a:ea typeface="Calibri"/>
                <a:cs typeface="Calibri"/>
                <a:sym typeface="Calibri"/>
              </a:rPr>
              <a:t> </a:t>
            </a:r>
            <a:r>
              <a:rPr b="1" lang="es-CL" sz="1500">
                <a:solidFill>
                  <a:schemeClr val="dk1"/>
                </a:solidFill>
                <a:latin typeface="Calibri"/>
                <a:ea typeface="Calibri"/>
                <a:cs typeface="Calibri"/>
                <a:sym typeface="Calibri"/>
              </a:rPr>
              <a:t>incremental:</a:t>
            </a:r>
            <a:r>
              <a:rPr lang="es-CL" sz="1500">
                <a:solidFill>
                  <a:schemeClr val="dk1"/>
                </a:solidFill>
                <a:latin typeface="Calibri"/>
                <a:ea typeface="Calibri"/>
                <a:cs typeface="Calibri"/>
                <a:sym typeface="Calibri"/>
              </a:rPr>
              <a:t> ciclos sucesivos de análisis, diseño, desarrollo, pruebas y retroalimentación.</a:t>
            </a:r>
            <a:endParaRPr sz="1500">
              <a:solidFill>
                <a:schemeClr val="dk1"/>
              </a:solidFill>
              <a:latin typeface="Calibri"/>
              <a:ea typeface="Calibri"/>
              <a:cs typeface="Calibri"/>
              <a:sym typeface="Calibri"/>
            </a:endParaRPr>
          </a:p>
          <a:p>
            <a:pPr indent="-323850" lvl="0" marL="457200" rtl="0" algn="l">
              <a:lnSpc>
                <a:spcPct val="115000"/>
              </a:lnSpc>
              <a:spcBef>
                <a:spcPts val="1200"/>
              </a:spcBef>
              <a:spcAft>
                <a:spcPts val="0"/>
              </a:spcAft>
              <a:buClr>
                <a:schemeClr val="dk1"/>
              </a:buClr>
              <a:buSzPts val="1500"/>
              <a:buChar char="●"/>
            </a:pPr>
            <a:r>
              <a:rPr b="1" lang="es-CL" sz="1500">
                <a:solidFill>
                  <a:schemeClr val="dk1"/>
                </a:solidFill>
                <a:latin typeface="Calibri"/>
                <a:ea typeface="Calibri"/>
                <a:cs typeface="Calibri"/>
                <a:sym typeface="Calibri"/>
              </a:rPr>
              <a:t>Planificación global con Carta Gantt</a:t>
            </a:r>
            <a:r>
              <a:rPr lang="es-CL" sz="1500">
                <a:solidFill>
                  <a:schemeClr val="dk1"/>
                </a:solidFill>
                <a:latin typeface="Calibri"/>
                <a:ea typeface="Calibri"/>
                <a:cs typeface="Calibri"/>
                <a:sym typeface="Calibri"/>
              </a:rPr>
              <a:t>: definición de fases, dependencias y plazos.</a:t>
            </a:r>
            <a:endParaRPr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Char char="●"/>
            </a:pPr>
            <a:r>
              <a:rPr b="1" lang="es-CL" sz="1500">
                <a:solidFill>
                  <a:schemeClr val="dk1"/>
                </a:solidFill>
                <a:latin typeface="Calibri"/>
                <a:ea typeface="Calibri"/>
                <a:cs typeface="Calibri"/>
                <a:sym typeface="Calibri"/>
              </a:rPr>
              <a:t>Gestión del avance mediante reuniones periódicas y actas de seguimiento</a:t>
            </a:r>
            <a:r>
              <a:rPr lang="es-CL" sz="1500">
                <a:solidFill>
                  <a:schemeClr val="dk1"/>
                </a:solidFill>
                <a:latin typeface="Calibri"/>
                <a:ea typeface="Calibri"/>
                <a:cs typeface="Calibri"/>
                <a:sym typeface="Calibri"/>
              </a:rPr>
              <a:t>: control colaborativo del progreso y resolución de incidencias.</a:t>
            </a:r>
            <a:endParaRPr sz="1500">
              <a:latin typeface="Calibri"/>
              <a:ea typeface="Calibri"/>
              <a:cs typeface="Calibri"/>
              <a:sym typeface="Calibri"/>
            </a:endParaRPr>
          </a:p>
        </p:txBody>
      </p:sp>
      <p:sp>
        <p:nvSpPr>
          <p:cNvPr id="116" name="Google Shape;116;p7"/>
          <p:cNvSpPr txBox="1"/>
          <p:nvPr/>
        </p:nvSpPr>
        <p:spPr>
          <a:xfrm>
            <a:off x="5317675" y="3768175"/>
            <a:ext cx="6798000" cy="242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Clr>
                <a:schemeClr val="dk1"/>
              </a:buClr>
              <a:buSzPts val="1100"/>
              <a:buFont typeface="Arial"/>
              <a:buNone/>
            </a:pPr>
            <a:r>
              <a:rPr b="1" lang="es-CL" sz="1500">
                <a:solidFill>
                  <a:schemeClr val="dk1"/>
                </a:solidFill>
                <a:latin typeface="Calibri"/>
                <a:ea typeface="Calibri"/>
                <a:cs typeface="Calibri"/>
                <a:sym typeface="Calibri"/>
              </a:rPr>
              <a:t>Fases principales</a:t>
            </a:r>
            <a:endParaRPr b="1" sz="1500">
              <a:solidFill>
                <a:schemeClr val="dk1"/>
              </a:solidFill>
              <a:latin typeface="Calibri"/>
              <a:ea typeface="Calibri"/>
              <a:cs typeface="Calibri"/>
              <a:sym typeface="Calibri"/>
            </a:endParaRPr>
          </a:p>
          <a:p>
            <a:pPr indent="-323850" lvl="0" marL="457200" rtl="0" algn="l">
              <a:lnSpc>
                <a:spcPct val="115000"/>
              </a:lnSpc>
              <a:spcBef>
                <a:spcPts val="1200"/>
              </a:spcBef>
              <a:spcAft>
                <a:spcPts val="0"/>
              </a:spcAft>
              <a:buClr>
                <a:schemeClr val="dk1"/>
              </a:buClr>
              <a:buSzPts val="1500"/>
              <a:buAutoNum type="arabicPeriod"/>
            </a:pPr>
            <a:r>
              <a:rPr b="1" lang="es-CL" sz="1500">
                <a:solidFill>
                  <a:schemeClr val="dk1"/>
                </a:solidFill>
                <a:latin typeface="Calibri"/>
                <a:ea typeface="Calibri"/>
                <a:cs typeface="Calibri"/>
                <a:sym typeface="Calibri"/>
              </a:rPr>
              <a:t>Análisis y levantamiento de requerimientos</a:t>
            </a:r>
            <a:r>
              <a:rPr lang="es-CL" sz="1500">
                <a:solidFill>
                  <a:schemeClr val="dk1"/>
                </a:solidFill>
                <a:latin typeface="Calibri"/>
                <a:ea typeface="Calibri"/>
                <a:cs typeface="Calibri"/>
                <a:sym typeface="Calibri"/>
              </a:rPr>
              <a:t> → entrevistas, flujos As-Is y To-Be.</a:t>
            </a:r>
            <a:endParaRPr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AutoNum type="arabicPeriod"/>
            </a:pPr>
            <a:r>
              <a:rPr b="1" lang="es-CL" sz="1500">
                <a:solidFill>
                  <a:schemeClr val="dk1"/>
                </a:solidFill>
                <a:latin typeface="Calibri"/>
                <a:ea typeface="Calibri"/>
                <a:cs typeface="Calibri"/>
                <a:sym typeface="Calibri"/>
              </a:rPr>
              <a:t>Diseño del sistema</a:t>
            </a:r>
            <a:r>
              <a:rPr lang="es-CL" sz="1500">
                <a:solidFill>
                  <a:schemeClr val="dk1"/>
                </a:solidFill>
                <a:latin typeface="Calibri"/>
                <a:ea typeface="Calibri"/>
                <a:cs typeface="Calibri"/>
                <a:sym typeface="Calibri"/>
              </a:rPr>
              <a:t> → modelo de datos, diagramas UML, prototipos de interfaz.</a:t>
            </a:r>
            <a:endParaRPr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AutoNum type="arabicPeriod"/>
            </a:pPr>
            <a:r>
              <a:rPr b="1" lang="es-CL" sz="1500">
                <a:solidFill>
                  <a:schemeClr val="dk1"/>
                </a:solidFill>
                <a:latin typeface="Calibri"/>
                <a:ea typeface="Calibri"/>
                <a:cs typeface="Calibri"/>
                <a:sym typeface="Calibri"/>
              </a:rPr>
              <a:t>Desarrollo</a:t>
            </a:r>
            <a:r>
              <a:rPr lang="es-CL" sz="1500">
                <a:solidFill>
                  <a:schemeClr val="dk1"/>
                </a:solidFill>
                <a:latin typeface="Calibri"/>
                <a:ea typeface="Calibri"/>
                <a:cs typeface="Calibri"/>
                <a:sym typeface="Calibri"/>
              </a:rPr>
              <a:t> → frontend en React, backend en Laravel, base de datos MySQL.</a:t>
            </a:r>
            <a:endParaRPr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AutoNum type="arabicPeriod"/>
            </a:pPr>
            <a:r>
              <a:rPr b="1" lang="es-CL" sz="1500">
                <a:solidFill>
                  <a:schemeClr val="dk1"/>
                </a:solidFill>
                <a:latin typeface="Calibri"/>
                <a:ea typeface="Calibri"/>
                <a:cs typeface="Calibri"/>
                <a:sym typeface="Calibri"/>
              </a:rPr>
              <a:t>Pruebas e integración</a:t>
            </a:r>
            <a:r>
              <a:rPr lang="es-CL" sz="1500">
                <a:solidFill>
                  <a:schemeClr val="dk1"/>
                </a:solidFill>
                <a:latin typeface="Calibri"/>
                <a:ea typeface="Calibri"/>
                <a:cs typeface="Calibri"/>
                <a:sym typeface="Calibri"/>
              </a:rPr>
              <a:t> → unitarias, funcionales, rendimiento.</a:t>
            </a:r>
            <a:endParaRPr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AutoNum type="arabicPeriod"/>
            </a:pPr>
            <a:r>
              <a:rPr b="1" lang="es-CL" sz="1500">
                <a:solidFill>
                  <a:schemeClr val="dk1"/>
                </a:solidFill>
                <a:latin typeface="Calibri"/>
                <a:ea typeface="Calibri"/>
                <a:cs typeface="Calibri"/>
                <a:sym typeface="Calibri"/>
              </a:rPr>
              <a:t>Despliegue y capacitación</a:t>
            </a:r>
            <a:r>
              <a:rPr lang="es-CL" sz="1500">
                <a:solidFill>
                  <a:schemeClr val="dk1"/>
                </a:solidFill>
                <a:latin typeface="Calibri"/>
                <a:ea typeface="Calibri"/>
                <a:cs typeface="Calibri"/>
                <a:sym typeface="Calibri"/>
              </a:rPr>
              <a:t> → guías de usuario, formación de colaboradores.</a:t>
            </a:r>
            <a:endParaRPr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AutoNum type="arabicPeriod"/>
            </a:pPr>
            <a:r>
              <a:rPr b="1" lang="es-CL" sz="1500">
                <a:solidFill>
                  <a:schemeClr val="dk1"/>
                </a:solidFill>
                <a:latin typeface="Calibri"/>
                <a:ea typeface="Calibri"/>
                <a:cs typeface="Calibri"/>
                <a:sym typeface="Calibri"/>
              </a:rPr>
              <a:t>Evaluación y mejora continua</a:t>
            </a:r>
            <a:r>
              <a:rPr lang="es-CL" sz="1500">
                <a:solidFill>
                  <a:schemeClr val="dk1"/>
                </a:solidFill>
                <a:latin typeface="Calibri"/>
                <a:ea typeface="Calibri"/>
                <a:cs typeface="Calibri"/>
                <a:sym typeface="Calibri"/>
              </a:rPr>
              <a:t> → encuestas de satisfacción, métricas de eficiencia, ajustes finales.</a:t>
            </a:r>
            <a:endParaRPr sz="1500">
              <a:solidFill>
                <a:schemeClr val="dk1"/>
              </a:solidFill>
              <a:latin typeface="Calibri"/>
              <a:ea typeface="Calibri"/>
              <a:cs typeface="Calibri"/>
              <a:sym typeface="Calibri"/>
            </a:endParaRPr>
          </a:p>
        </p:txBody>
      </p:sp>
      <p:sp>
        <p:nvSpPr>
          <p:cNvPr id="117" name="Google Shape;117;p7"/>
          <p:cNvSpPr txBox="1"/>
          <p:nvPr/>
        </p:nvSpPr>
        <p:spPr>
          <a:xfrm>
            <a:off x="2119025" y="596850"/>
            <a:ext cx="7458000" cy="6309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lang="es-CL" sz="3500">
                <a:solidFill>
                  <a:schemeClr val="dk1"/>
                </a:solidFill>
                <a:latin typeface="Calibri"/>
                <a:ea typeface="Calibri"/>
                <a:cs typeface="Calibri"/>
                <a:sym typeface="Calibri"/>
              </a:rPr>
              <a:t>Metodología y Fases principales</a:t>
            </a:r>
            <a:endParaRPr>
              <a:solidFill>
                <a:schemeClr val="dk1"/>
              </a:solidFill>
              <a:latin typeface="Calibri"/>
              <a:ea typeface="Calibri"/>
              <a:cs typeface="Calibri"/>
              <a:sym typeface="Calibri"/>
            </a:endParaRPr>
          </a:p>
        </p:txBody>
      </p:sp>
      <p:grpSp>
        <p:nvGrpSpPr>
          <p:cNvPr id="118" name="Google Shape;118;p7"/>
          <p:cNvGrpSpPr/>
          <p:nvPr/>
        </p:nvGrpSpPr>
        <p:grpSpPr>
          <a:xfrm>
            <a:off x="1500661" y="1524199"/>
            <a:ext cx="8694736" cy="2213037"/>
            <a:chOff x="2076988" y="4201900"/>
            <a:chExt cx="8035801" cy="2213037"/>
          </a:xfrm>
        </p:grpSpPr>
        <p:pic>
          <p:nvPicPr>
            <p:cNvPr id="119" name="Google Shape;119;p7"/>
            <p:cNvPicPr preferRelativeResize="0"/>
            <p:nvPr/>
          </p:nvPicPr>
          <p:blipFill>
            <a:blip r:embed="rId3">
              <a:alphaModFix/>
            </a:blip>
            <a:stretch>
              <a:fillRect/>
            </a:stretch>
          </p:blipFill>
          <p:spPr>
            <a:xfrm>
              <a:off x="2076988" y="4701288"/>
              <a:ext cx="1713650" cy="1713650"/>
            </a:xfrm>
            <a:prstGeom prst="rect">
              <a:avLst/>
            </a:prstGeom>
            <a:noFill/>
            <a:ln>
              <a:noFill/>
            </a:ln>
          </p:spPr>
        </p:pic>
        <p:pic>
          <p:nvPicPr>
            <p:cNvPr id="120" name="Google Shape;120;p7"/>
            <p:cNvPicPr preferRelativeResize="0"/>
            <p:nvPr/>
          </p:nvPicPr>
          <p:blipFill>
            <a:blip r:embed="rId4">
              <a:alphaModFix/>
            </a:blip>
            <a:stretch>
              <a:fillRect/>
            </a:stretch>
          </p:blipFill>
          <p:spPr>
            <a:xfrm>
              <a:off x="3928062" y="4802200"/>
              <a:ext cx="6184726" cy="1511825"/>
            </a:xfrm>
            <a:prstGeom prst="rect">
              <a:avLst/>
            </a:prstGeom>
            <a:noFill/>
            <a:ln>
              <a:noFill/>
            </a:ln>
          </p:spPr>
        </p:pic>
        <p:sp>
          <p:nvSpPr>
            <p:cNvPr id="121" name="Google Shape;121;p7"/>
            <p:cNvSpPr txBox="1"/>
            <p:nvPr/>
          </p:nvSpPr>
          <p:spPr>
            <a:xfrm>
              <a:off x="3440027" y="4201900"/>
              <a:ext cx="53097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CL" sz="2700">
                  <a:solidFill>
                    <a:srgbClr val="172740"/>
                  </a:solidFill>
                  <a:latin typeface="Franklin Gothic"/>
                  <a:ea typeface="Franklin Gothic"/>
                  <a:cs typeface="Franklin Gothic"/>
                  <a:sym typeface="Franklin Gothic"/>
                </a:rPr>
                <a:t>Desarrollo Iterativa Incremental </a:t>
              </a:r>
              <a:endParaRPr b="1" sz="2700">
                <a:solidFill>
                  <a:srgbClr val="172740"/>
                </a:solidFill>
                <a:latin typeface="Franklin Gothic"/>
                <a:ea typeface="Franklin Gothic"/>
                <a:cs typeface="Franklin Gothic"/>
                <a:sym typeface="Franklin Gothic"/>
              </a:endParaRPr>
            </a:p>
          </p:txBody>
        </p:sp>
      </p:grpSp>
      <p:sp>
        <p:nvSpPr>
          <p:cNvPr id="122" name="Google Shape;122;p7"/>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spTree>
  </p:cSld>
  <p:clrMapOvr>
    <a:masterClrMapping/>
  </p:clrMapOvr>
  <p:transition spd="slow">
    <p:wipe dir="l"/>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txBox="1"/>
          <p:nvPr/>
        </p:nvSpPr>
        <p:spPr>
          <a:xfrm>
            <a:off x="220425" y="1518550"/>
            <a:ext cx="11793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1500">
                <a:solidFill>
                  <a:schemeClr val="dk1"/>
                </a:solidFill>
                <a:latin typeface="Calibri"/>
                <a:ea typeface="Calibri"/>
                <a:cs typeface="Calibri"/>
                <a:sym typeface="Calibri"/>
              </a:rPr>
              <a:t>Desarrollar una </a:t>
            </a:r>
            <a:r>
              <a:rPr b="1" lang="es-CL" sz="1500">
                <a:solidFill>
                  <a:schemeClr val="dk1"/>
                </a:solidFill>
                <a:latin typeface="Calibri"/>
                <a:ea typeface="Calibri"/>
                <a:cs typeface="Calibri"/>
                <a:sym typeface="Calibri"/>
              </a:rPr>
              <a:t>plataforma web full-stack</a:t>
            </a:r>
            <a:r>
              <a:rPr lang="es-CL" sz="1500">
                <a:solidFill>
                  <a:schemeClr val="dk1"/>
                </a:solidFill>
                <a:latin typeface="Calibri"/>
                <a:ea typeface="Calibri"/>
                <a:cs typeface="Calibri"/>
                <a:sym typeface="Calibri"/>
              </a:rPr>
              <a:t> que automatice el proceso de solicitudes de insumos tecnológicos en Implementos Epysa S.A., integrando manejo de inventario en tiempo real, trazabilidad completa del proceso y herramientas que mejoran la eficiencia operativa.</a:t>
            </a:r>
            <a:endParaRPr sz="1500">
              <a:latin typeface="Calibri"/>
              <a:ea typeface="Calibri"/>
              <a:cs typeface="Calibri"/>
              <a:sym typeface="Calibri"/>
            </a:endParaRPr>
          </a:p>
        </p:txBody>
      </p:sp>
      <p:sp>
        <p:nvSpPr>
          <p:cNvPr id="129" name="Google Shape;129;p6"/>
          <p:cNvSpPr txBox="1"/>
          <p:nvPr/>
        </p:nvSpPr>
        <p:spPr>
          <a:xfrm>
            <a:off x="2167625" y="596850"/>
            <a:ext cx="7458000" cy="6309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lang="es-CL" sz="3500">
                <a:solidFill>
                  <a:schemeClr val="dk1"/>
                </a:solidFill>
              </a:rPr>
              <a:t>Propuesta de Solución</a:t>
            </a:r>
            <a:endParaRPr sz="3400">
              <a:solidFill>
                <a:schemeClr val="dk1"/>
              </a:solidFill>
              <a:latin typeface="Calibri"/>
              <a:ea typeface="Calibri"/>
              <a:cs typeface="Calibri"/>
              <a:sym typeface="Calibri"/>
            </a:endParaRPr>
          </a:p>
        </p:txBody>
      </p:sp>
      <p:sp>
        <p:nvSpPr>
          <p:cNvPr id="130" name="Google Shape;130;p6"/>
          <p:cNvSpPr txBox="1"/>
          <p:nvPr/>
        </p:nvSpPr>
        <p:spPr>
          <a:xfrm>
            <a:off x="220425" y="2054500"/>
            <a:ext cx="49599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1500">
                <a:solidFill>
                  <a:schemeClr val="dk1"/>
                </a:solidFill>
                <a:latin typeface="Calibri"/>
                <a:ea typeface="Calibri"/>
                <a:cs typeface="Calibri"/>
                <a:sym typeface="Calibri"/>
              </a:rPr>
              <a:t>Componentes de la Solución</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b="1" lang="es-CL" sz="1500">
                <a:solidFill>
                  <a:schemeClr val="dk1"/>
                </a:solidFill>
                <a:latin typeface="Calibri"/>
                <a:ea typeface="Calibri"/>
                <a:cs typeface="Calibri"/>
                <a:sym typeface="Calibri"/>
              </a:rPr>
              <a:t>Frontend:</a:t>
            </a:r>
            <a:r>
              <a:rPr lang="es-CL" sz="1500">
                <a:solidFill>
                  <a:schemeClr val="dk1"/>
                </a:solidFill>
                <a:latin typeface="Calibri"/>
                <a:ea typeface="Calibri"/>
                <a:cs typeface="Calibri"/>
                <a:sym typeface="Calibri"/>
              </a:rPr>
              <a:t> React .</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b="1" lang="es-CL" sz="1500">
                <a:solidFill>
                  <a:schemeClr val="dk1"/>
                </a:solidFill>
                <a:latin typeface="Calibri"/>
                <a:ea typeface="Calibri"/>
                <a:cs typeface="Calibri"/>
                <a:sym typeface="Calibri"/>
              </a:rPr>
              <a:t>Backend:</a:t>
            </a:r>
            <a:r>
              <a:rPr lang="es-CL" sz="1500">
                <a:solidFill>
                  <a:schemeClr val="dk1"/>
                </a:solidFill>
                <a:latin typeface="Calibri"/>
                <a:ea typeface="Calibri"/>
                <a:cs typeface="Calibri"/>
                <a:sym typeface="Calibri"/>
              </a:rPr>
              <a:t> Laravel (lógica del sistema, seguridad).</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b="1" lang="es-CL" sz="1500">
                <a:solidFill>
                  <a:schemeClr val="dk1"/>
                </a:solidFill>
                <a:latin typeface="Calibri"/>
                <a:ea typeface="Calibri"/>
                <a:cs typeface="Calibri"/>
                <a:sym typeface="Calibri"/>
              </a:rPr>
              <a:t>Base de Datos:</a:t>
            </a:r>
            <a:r>
              <a:rPr lang="es-CL" sz="1500">
                <a:solidFill>
                  <a:schemeClr val="dk1"/>
                </a:solidFill>
                <a:latin typeface="Calibri"/>
                <a:ea typeface="Calibri"/>
                <a:cs typeface="Calibri"/>
                <a:sym typeface="Calibri"/>
              </a:rPr>
              <a:t> MySQL en entorno XAMPP / phpMyAdmin.</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b="1" lang="es-CL" sz="1500">
                <a:solidFill>
                  <a:schemeClr val="dk1"/>
                </a:solidFill>
                <a:latin typeface="Calibri"/>
                <a:ea typeface="Calibri"/>
                <a:cs typeface="Calibri"/>
                <a:sym typeface="Calibri"/>
              </a:rPr>
              <a:t>Notificaciones:</a:t>
            </a:r>
            <a:r>
              <a:rPr lang="es-CL" sz="1500">
                <a:solidFill>
                  <a:schemeClr val="dk1"/>
                </a:solidFill>
                <a:latin typeface="Calibri"/>
                <a:ea typeface="Calibri"/>
                <a:cs typeface="Calibri"/>
                <a:sym typeface="Calibri"/>
              </a:rPr>
              <a:t> SMTP para avisos internos y actualización de estados.</a:t>
            </a:r>
            <a:endParaRPr sz="1500">
              <a:solidFill>
                <a:schemeClr val="dk1"/>
              </a:solidFill>
              <a:latin typeface="Calibri"/>
              <a:ea typeface="Calibri"/>
              <a:cs typeface="Calibri"/>
              <a:sym typeface="Calibri"/>
            </a:endParaRPr>
          </a:p>
        </p:txBody>
      </p:sp>
      <p:sp>
        <p:nvSpPr>
          <p:cNvPr id="131" name="Google Shape;131;p6"/>
          <p:cNvSpPr txBox="1"/>
          <p:nvPr/>
        </p:nvSpPr>
        <p:spPr>
          <a:xfrm>
            <a:off x="220425" y="3855400"/>
            <a:ext cx="5230200" cy="216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s-CL" sz="1500">
                <a:solidFill>
                  <a:schemeClr val="dk1"/>
                </a:solidFill>
                <a:latin typeface="Calibri"/>
                <a:ea typeface="Calibri"/>
                <a:cs typeface="Calibri"/>
                <a:sym typeface="Calibri"/>
              </a:rPr>
              <a:t>Metodología iterativa incremental, Estudios e Insumos Utilizados</a:t>
            </a:r>
            <a:endParaRPr sz="1500">
              <a:solidFill>
                <a:schemeClr val="dk1"/>
              </a:solidFill>
              <a:latin typeface="Calibri"/>
              <a:ea typeface="Calibri"/>
              <a:cs typeface="Calibri"/>
              <a:sym typeface="Calibri"/>
            </a:endParaRPr>
          </a:p>
          <a:p>
            <a:pPr indent="-323850" lvl="0" marL="457200" rtl="0" algn="l">
              <a:lnSpc>
                <a:spcPct val="115000"/>
              </a:lnSpc>
              <a:spcBef>
                <a:spcPts val="1200"/>
              </a:spcBef>
              <a:spcAft>
                <a:spcPts val="0"/>
              </a:spcAft>
              <a:buClr>
                <a:schemeClr val="dk1"/>
              </a:buClr>
              <a:buSzPts val="1500"/>
              <a:buChar char="●"/>
            </a:pPr>
            <a:r>
              <a:rPr b="1" lang="es-CL" sz="1500">
                <a:solidFill>
                  <a:schemeClr val="dk1"/>
                </a:solidFill>
                <a:latin typeface="Calibri"/>
                <a:ea typeface="Calibri"/>
                <a:cs typeface="Calibri"/>
                <a:sym typeface="Calibri"/>
              </a:rPr>
              <a:t>Modelado de procesos:</a:t>
            </a:r>
            <a:r>
              <a:rPr lang="es-CL" sz="1500">
                <a:solidFill>
                  <a:schemeClr val="dk1"/>
                </a:solidFill>
                <a:latin typeface="Calibri"/>
                <a:ea typeface="Calibri"/>
                <a:cs typeface="Calibri"/>
                <a:sym typeface="Calibri"/>
              </a:rPr>
              <a:t> Diagramas AS-IS y TO-BE</a:t>
            </a:r>
            <a:endParaRPr b="1"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Char char="●"/>
            </a:pPr>
            <a:r>
              <a:rPr b="1" lang="es-CL" sz="1500">
                <a:solidFill>
                  <a:schemeClr val="dk1"/>
                </a:solidFill>
                <a:latin typeface="Calibri"/>
                <a:ea typeface="Calibri"/>
                <a:cs typeface="Calibri"/>
                <a:sym typeface="Calibri"/>
              </a:rPr>
              <a:t>Análisis:</a:t>
            </a:r>
            <a:r>
              <a:rPr lang="es-CL" sz="1500">
                <a:solidFill>
                  <a:schemeClr val="dk1"/>
                </a:solidFill>
                <a:latin typeface="Calibri"/>
                <a:ea typeface="Calibri"/>
                <a:cs typeface="Calibri"/>
                <a:sym typeface="Calibri"/>
              </a:rPr>
              <a:t> Levantamiento de requerimientos con entrevistas.</a:t>
            </a:r>
            <a:endParaRPr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Char char="●"/>
            </a:pPr>
            <a:r>
              <a:rPr b="1" lang="es-CL" sz="1500">
                <a:solidFill>
                  <a:schemeClr val="dk1"/>
                </a:solidFill>
                <a:latin typeface="Calibri"/>
                <a:ea typeface="Calibri"/>
                <a:cs typeface="Calibri"/>
                <a:sym typeface="Calibri"/>
              </a:rPr>
              <a:t>Diseño:</a:t>
            </a:r>
            <a:r>
              <a:rPr lang="es-CL" sz="1500">
                <a:solidFill>
                  <a:schemeClr val="dk1"/>
                </a:solidFill>
                <a:latin typeface="Calibri"/>
                <a:ea typeface="Calibri"/>
                <a:cs typeface="Calibri"/>
                <a:sym typeface="Calibri"/>
              </a:rPr>
              <a:t>  UML, MER,</a:t>
            </a:r>
            <a:r>
              <a:rPr b="1" lang="es-CL" sz="1500">
                <a:solidFill>
                  <a:schemeClr val="dk1"/>
                </a:solidFill>
                <a:latin typeface="Calibri"/>
                <a:ea typeface="Calibri"/>
                <a:cs typeface="Calibri"/>
                <a:sym typeface="Calibri"/>
              </a:rPr>
              <a:t> </a:t>
            </a:r>
            <a:r>
              <a:rPr lang="es-CL" sz="1500">
                <a:solidFill>
                  <a:schemeClr val="dk1"/>
                </a:solidFill>
                <a:latin typeface="Calibri"/>
                <a:ea typeface="Calibri"/>
                <a:cs typeface="Calibri"/>
                <a:sym typeface="Calibri"/>
              </a:rPr>
              <a:t>D. actividad, D.Objetos, Casos de uso, Caso de uso extendido,D.clase, D.secuencia. D.componentes,D. despliegue, prototipos en Figma.</a:t>
            </a:r>
            <a:endParaRPr sz="1500">
              <a:solidFill>
                <a:schemeClr val="dk1"/>
              </a:solidFill>
              <a:latin typeface="Calibri"/>
              <a:ea typeface="Calibri"/>
              <a:cs typeface="Calibri"/>
              <a:sym typeface="Calibri"/>
            </a:endParaRPr>
          </a:p>
          <a:p>
            <a:pPr indent="-323850" lvl="0" marL="457200" rtl="0" algn="l">
              <a:lnSpc>
                <a:spcPct val="115000"/>
              </a:lnSpc>
              <a:spcBef>
                <a:spcPts val="0"/>
              </a:spcBef>
              <a:spcAft>
                <a:spcPts val="0"/>
              </a:spcAft>
              <a:buClr>
                <a:schemeClr val="dk1"/>
              </a:buClr>
              <a:buSzPts val="1500"/>
              <a:buChar char="●"/>
            </a:pPr>
            <a:r>
              <a:rPr b="1" lang="es-CL" sz="1500">
                <a:solidFill>
                  <a:schemeClr val="dk1"/>
                </a:solidFill>
                <a:latin typeface="Calibri"/>
                <a:ea typeface="Calibri"/>
                <a:cs typeface="Calibri"/>
                <a:sym typeface="Calibri"/>
              </a:rPr>
              <a:t>Gestión del proyecto:</a:t>
            </a:r>
            <a:r>
              <a:rPr lang="es-CL" sz="1500">
                <a:solidFill>
                  <a:schemeClr val="dk1"/>
                </a:solidFill>
                <a:latin typeface="Calibri"/>
                <a:ea typeface="Calibri"/>
                <a:cs typeface="Calibri"/>
                <a:sym typeface="Calibri"/>
              </a:rPr>
              <a:t> Carta Gantt.</a:t>
            </a:r>
            <a:endParaRPr sz="1500">
              <a:solidFill>
                <a:schemeClr val="dk1"/>
              </a:solidFill>
              <a:latin typeface="Calibri"/>
              <a:ea typeface="Calibri"/>
              <a:cs typeface="Calibri"/>
              <a:sym typeface="Calibri"/>
            </a:endParaRPr>
          </a:p>
        </p:txBody>
      </p:sp>
      <p:pic>
        <p:nvPicPr>
          <p:cNvPr id="132" name="Google Shape;132;p6"/>
          <p:cNvPicPr preferRelativeResize="0"/>
          <p:nvPr/>
        </p:nvPicPr>
        <p:blipFill>
          <a:blip r:embed="rId3">
            <a:alphaModFix/>
          </a:blip>
          <a:stretch>
            <a:fillRect/>
          </a:stretch>
        </p:blipFill>
        <p:spPr>
          <a:xfrm>
            <a:off x="5450625" y="2623825"/>
            <a:ext cx="6546900" cy="3135000"/>
          </a:xfrm>
          <a:prstGeom prst="roundRect">
            <a:avLst>
              <a:gd fmla="val 16667" name="adj"/>
            </a:avLst>
          </a:prstGeom>
          <a:noFill/>
          <a:ln>
            <a:noFill/>
          </a:ln>
        </p:spPr>
      </p:pic>
      <p:sp>
        <p:nvSpPr>
          <p:cNvPr id="133" name="Google Shape;133;p6"/>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spTree>
  </p:cSld>
  <p:clrMapOvr>
    <a:masterClrMapping/>
  </p:clrMapOvr>
  <p:transition spd="slow">
    <p:wipe dir="l"/>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aac5b913e3_0_48"/>
          <p:cNvSpPr txBox="1"/>
          <p:nvPr/>
        </p:nvSpPr>
        <p:spPr>
          <a:xfrm>
            <a:off x="1086975" y="792800"/>
            <a:ext cx="4255800" cy="630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500">
                <a:solidFill>
                  <a:schemeClr val="dk1"/>
                </a:solidFill>
                <a:latin typeface="Calibri"/>
                <a:ea typeface="Calibri"/>
                <a:cs typeface="Calibri"/>
                <a:sym typeface="Calibri"/>
              </a:rPr>
              <a:t>Generación de valor</a:t>
            </a:r>
            <a:endParaRPr sz="3500">
              <a:solidFill>
                <a:schemeClr val="dk1"/>
              </a:solidFill>
              <a:latin typeface="Calibri"/>
              <a:ea typeface="Calibri"/>
              <a:cs typeface="Calibri"/>
              <a:sym typeface="Calibri"/>
            </a:endParaRPr>
          </a:p>
        </p:txBody>
      </p:sp>
      <p:sp>
        <p:nvSpPr>
          <p:cNvPr id="140" name="Google Shape;140;g3aac5b913e3_0_48"/>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graphicFrame>
        <p:nvGraphicFramePr>
          <p:cNvPr id="141" name="Google Shape;141;g3aac5b913e3_0_48"/>
          <p:cNvGraphicFramePr/>
          <p:nvPr/>
        </p:nvGraphicFramePr>
        <p:xfrm>
          <a:off x="305763" y="1540175"/>
          <a:ext cx="3000000" cy="3000000"/>
        </p:xfrm>
        <a:graphic>
          <a:graphicData uri="http://schemas.openxmlformats.org/drawingml/2006/table">
            <a:tbl>
              <a:tblPr>
                <a:noFill/>
                <a:tableStyleId>{4F083F6B-9C2D-4B4F-8196-59A929FA400A}</a:tableStyleId>
              </a:tblPr>
              <a:tblGrid>
                <a:gridCol w="1477800"/>
                <a:gridCol w="4843775"/>
              </a:tblGrid>
              <a:tr h="409200">
                <a:tc>
                  <a:txBody>
                    <a:bodyPr/>
                    <a:lstStyle/>
                    <a:p>
                      <a:pPr indent="0" lvl="0" marL="0" rtl="0" algn="ctr">
                        <a:lnSpc>
                          <a:spcPct val="115000"/>
                        </a:lnSpc>
                        <a:spcBef>
                          <a:spcPts val="0"/>
                        </a:spcBef>
                        <a:spcAft>
                          <a:spcPts val="0"/>
                        </a:spcAft>
                        <a:buNone/>
                      </a:pPr>
                      <a:r>
                        <a:rPr b="1" lang="es-CL" sz="1500">
                          <a:latin typeface="Calibri"/>
                          <a:ea typeface="Calibri"/>
                          <a:cs typeface="Calibri"/>
                          <a:sym typeface="Calibri"/>
                        </a:rPr>
                        <a:t>Elemento</a:t>
                      </a:r>
                      <a:endParaRPr b="1"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s-CL" sz="1500">
                          <a:latin typeface="Calibri"/>
                          <a:ea typeface="Calibri"/>
                          <a:cs typeface="Calibri"/>
                          <a:sym typeface="Calibri"/>
                        </a:rPr>
                        <a:t>Descripción</a:t>
                      </a:r>
                      <a:endParaRPr b="1"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C2F4"/>
                    </a:solidFill>
                  </a:tcPr>
                </a:tc>
              </a:tr>
              <a:tr h="582600">
                <a:tc>
                  <a:txBody>
                    <a:bodyPr/>
                    <a:lstStyle/>
                    <a:p>
                      <a:pPr indent="0" lvl="0" marL="0" rtl="0" algn="l">
                        <a:spcBef>
                          <a:spcPts val="0"/>
                        </a:spcBef>
                        <a:spcAft>
                          <a:spcPts val="0"/>
                        </a:spcAft>
                        <a:buNone/>
                      </a:pPr>
                      <a:r>
                        <a:rPr b="1" lang="es-CL" sz="1500">
                          <a:latin typeface="Calibri"/>
                          <a:ea typeface="Calibri"/>
                          <a:cs typeface="Calibri"/>
                          <a:sym typeface="Calibri"/>
                        </a:rPr>
                        <a:t>Propuesta de valor</a:t>
                      </a:r>
                      <a:endParaRPr b="1"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Solicitudes estandarizadas + inventario integrado + reglas de priorización</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4525">
                <a:tc>
                  <a:txBody>
                    <a:bodyPr/>
                    <a:lstStyle/>
                    <a:p>
                      <a:pPr indent="0" lvl="0" marL="0" rtl="0" algn="l">
                        <a:spcBef>
                          <a:spcPts val="0"/>
                        </a:spcBef>
                        <a:spcAft>
                          <a:spcPts val="0"/>
                        </a:spcAft>
                        <a:buNone/>
                      </a:pPr>
                      <a:r>
                        <a:rPr b="1" lang="es-CL" sz="1500">
                          <a:latin typeface="Calibri"/>
                          <a:ea typeface="Calibri"/>
                          <a:cs typeface="Calibri"/>
                          <a:sym typeface="Calibri"/>
                        </a:rPr>
                        <a:t>Clientes/Usuarios</a:t>
                      </a:r>
                      <a:endParaRPr b="1"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Colaboradores y administración de Epysa S.A.</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4525">
                <a:tc>
                  <a:txBody>
                    <a:bodyPr/>
                    <a:lstStyle/>
                    <a:p>
                      <a:pPr indent="0" lvl="0" marL="0" rtl="0" algn="l">
                        <a:spcBef>
                          <a:spcPts val="0"/>
                        </a:spcBef>
                        <a:spcAft>
                          <a:spcPts val="0"/>
                        </a:spcAft>
                        <a:buNone/>
                      </a:pPr>
                      <a:r>
                        <a:rPr b="1" lang="es-CL" sz="1500">
                          <a:latin typeface="Calibri"/>
                          <a:ea typeface="Calibri"/>
                          <a:cs typeface="Calibri"/>
                          <a:sym typeface="Calibri"/>
                        </a:rPr>
                        <a:t>Canales</a:t>
                      </a:r>
                      <a:endParaRPr b="1"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Plataforma web full-stack</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82600">
                <a:tc>
                  <a:txBody>
                    <a:bodyPr/>
                    <a:lstStyle/>
                    <a:p>
                      <a:pPr indent="0" lvl="0" marL="0" rtl="0" algn="l">
                        <a:spcBef>
                          <a:spcPts val="0"/>
                        </a:spcBef>
                        <a:spcAft>
                          <a:spcPts val="0"/>
                        </a:spcAft>
                        <a:buNone/>
                      </a:pPr>
                      <a:r>
                        <a:rPr b="1" lang="es-CL" sz="1500">
                          <a:latin typeface="Calibri"/>
                          <a:ea typeface="Calibri"/>
                          <a:cs typeface="Calibri"/>
                          <a:sym typeface="Calibri"/>
                        </a:rPr>
                        <a:t>Relación con clientes</a:t>
                      </a:r>
                      <a:endParaRPr b="1"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Uso interno, soporte institucional</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4525">
                <a:tc>
                  <a:txBody>
                    <a:bodyPr/>
                    <a:lstStyle/>
                    <a:p>
                      <a:pPr indent="0" lvl="0" marL="0" rtl="0" algn="l">
                        <a:spcBef>
                          <a:spcPts val="0"/>
                        </a:spcBef>
                        <a:spcAft>
                          <a:spcPts val="0"/>
                        </a:spcAft>
                        <a:buNone/>
                      </a:pPr>
                      <a:r>
                        <a:rPr b="1" lang="es-CL" sz="1500">
                          <a:latin typeface="Calibri"/>
                          <a:ea typeface="Calibri"/>
                          <a:cs typeface="Calibri"/>
                          <a:sym typeface="Calibri"/>
                        </a:rPr>
                        <a:t>Recursos clave</a:t>
                      </a:r>
                      <a:endParaRPr b="1"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Software, base de datos, documentación, equipo TI</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4525">
                <a:tc>
                  <a:txBody>
                    <a:bodyPr/>
                    <a:lstStyle/>
                    <a:p>
                      <a:pPr indent="0" lvl="0" marL="0" rtl="0" algn="l">
                        <a:spcBef>
                          <a:spcPts val="0"/>
                        </a:spcBef>
                        <a:spcAft>
                          <a:spcPts val="0"/>
                        </a:spcAft>
                        <a:buNone/>
                      </a:pPr>
                      <a:r>
                        <a:rPr b="1" lang="es-CL" sz="1500">
                          <a:latin typeface="Calibri"/>
                          <a:ea typeface="Calibri"/>
                          <a:cs typeface="Calibri"/>
                          <a:sym typeface="Calibri"/>
                        </a:rPr>
                        <a:t>Actividades clave</a:t>
                      </a:r>
                      <a:endParaRPr b="1"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Gestión de solicitudes, control de inventario, priorización</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4525">
                <a:tc>
                  <a:txBody>
                    <a:bodyPr/>
                    <a:lstStyle/>
                    <a:p>
                      <a:pPr indent="0" lvl="0" marL="0" rtl="0" algn="l">
                        <a:spcBef>
                          <a:spcPts val="0"/>
                        </a:spcBef>
                        <a:spcAft>
                          <a:spcPts val="0"/>
                        </a:spcAft>
                        <a:buNone/>
                      </a:pPr>
                      <a:r>
                        <a:rPr b="1" lang="es-CL" sz="1500">
                          <a:latin typeface="Calibri"/>
                          <a:ea typeface="Calibri"/>
                          <a:cs typeface="Calibri"/>
                          <a:sym typeface="Calibri"/>
                        </a:rPr>
                        <a:t>Socios clave</a:t>
                      </a:r>
                      <a:endParaRPr b="1"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Empresa Epysa S.A., apoyo institucional</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4525">
                <a:tc>
                  <a:txBody>
                    <a:bodyPr/>
                    <a:lstStyle/>
                    <a:p>
                      <a:pPr indent="0" lvl="0" marL="0" rtl="0" algn="l">
                        <a:spcBef>
                          <a:spcPts val="0"/>
                        </a:spcBef>
                        <a:spcAft>
                          <a:spcPts val="0"/>
                        </a:spcAft>
                        <a:buNone/>
                      </a:pPr>
                      <a:r>
                        <a:rPr b="1" lang="es-CL" sz="1500">
                          <a:latin typeface="Calibri"/>
                          <a:ea typeface="Calibri"/>
                          <a:cs typeface="Calibri"/>
                          <a:sym typeface="Calibri"/>
                        </a:rPr>
                        <a:t>Ingresos/Ahorros</a:t>
                      </a:r>
                      <a:endParaRPr b="1"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Eficiencia operativa, reducción de errores, escalabilidad</a:t>
                      </a:r>
                      <a:endParaRPr sz="1500">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42" name="Google Shape;142;g3aac5b913e3_0_48"/>
          <p:cNvSpPr txBox="1"/>
          <p:nvPr/>
        </p:nvSpPr>
        <p:spPr>
          <a:xfrm>
            <a:off x="5239250" y="792800"/>
            <a:ext cx="7458000" cy="6309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lang="es-CL" sz="3500">
                <a:solidFill>
                  <a:schemeClr val="dk1"/>
                </a:solidFill>
                <a:latin typeface="Calibri"/>
                <a:ea typeface="Calibri"/>
                <a:cs typeface="Calibri"/>
                <a:sym typeface="Calibri"/>
              </a:rPr>
              <a:t>¿Cómo se diferencia? </a:t>
            </a:r>
            <a:endParaRPr sz="3500">
              <a:solidFill>
                <a:schemeClr val="dk1"/>
              </a:solidFill>
              <a:latin typeface="Calibri"/>
              <a:ea typeface="Calibri"/>
              <a:cs typeface="Calibri"/>
              <a:sym typeface="Calibri"/>
            </a:endParaRPr>
          </a:p>
        </p:txBody>
      </p:sp>
      <p:sp>
        <p:nvSpPr>
          <p:cNvPr id="143" name="Google Shape;143;g3aac5b913e3_0_48"/>
          <p:cNvSpPr txBox="1"/>
          <p:nvPr/>
        </p:nvSpPr>
        <p:spPr>
          <a:xfrm>
            <a:off x="6805607" y="2257400"/>
            <a:ext cx="5489700" cy="3449700"/>
          </a:xfrm>
          <a:prstGeom prst="rect">
            <a:avLst/>
          </a:prstGeom>
          <a:noFill/>
          <a:ln>
            <a:noFill/>
          </a:ln>
        </p:spPr>
        <p:txBody>
          <a:bodyPr anchorCtr="0" anchor="t" bIns="107500" lIns="107500" spcFirstLastPara="1" rIns="107500" wrap="square" tIns="107500">
            <a:sp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b="1" lang="es-CL" sz="1500">
                <a:solidFill>
                  <a:schemeClr val="dk1"/>
                </a:solidFill>
                <a:latin typeface="Calibri"/>
                <a:ea typeface="Calibri"/>
                <a:cs typeface="Calibri"/>
                <a:sym typeface="Calibri"/>
              </a:rPr>
              <a:t>Diferencia:</a:t>
            </a:r>
            <a:r>
              <a:rPr lang="es-CL" sz="1500">
                <a:solidFill>
                  <a:schemeClr val="dk1"/>
                </a:solidFill>
                <a:latin typeface="Calibri"/>
                <a:ea typeface="Calibri"/>
                <a:cs typeface="Calibri"/>
                <a:sym typeface="Calibri"/>
              </a:rPr>
              <a:t> Integra de forma nativa el inventario y aplica reglas de priorización, evitando duplicidad y desorden en la gestión</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b="1" lang="es-CL" sz="1500">
                <a:solidFill>
                  <a:schemeClr val="dk1"/>
                </a:solidFill>
                <a:latin typeface="Calibri"/>
                <a:ea typeface="Calibri"/>
                <a:cs typeface="Calibri"/>
                <a:sym typeface="Calibri"/>
              </a:rPr>
              <a:t>Usuarios principales:</a:t>
            </a:r>
            <a:r>
              <a:rPr lang="es-CL" sz="1500">
                <a:solidFill>
                  <a:schemeClr val="dk1"/>
                </a:solidFill>
                <a:latin typeface="Calibri"/>
                <a:ea typeface="Calibri"/>
                <a:cs typeface="Calibri"/>
                <a:sym typeface="Calibri"/>
              </a:rPr>
              <a:t> Colaboradores y áreas administrativas de Epysa S.A.</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b="1" lang="es-CL" sz="1500">
                <a:solidFill>
                  <a:schemeClr val="dk1"/>
                </a:solidFill>
                <a:latin typeface="Calibri"/>
                <a:ea typeface="Calibri"/>
                <a:cs typeface="Calibri"/>
                <a:sym typeface="Calibri"/>
              </a:rPr>
              <a:t>Beneficiarios indirectos:</a:t>
            </a:r>
            <a:r>
              <a:rPr lang="es-CL" sz="1500">
                <a:solidFill>
                  <a:schemeClr val="dk1"/>
                </a:solidFill>
                <a:latin typeface="Calibri"/>
                <a:ea typeface="Calibri"/>
                <a:cs typeface="Calibri"/>
                <a:sym typeface="Calibri"/>
              </a:rPr>
              <a:t> La empresa en su conjunto, al mejorar la trazabilidad y reducir costos operativos.</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b="1" lang="es-CL" sz="1500">
                <a:solidFill>
                  <a:schemeClr val="dk1"/>
                </a:solidFill>
                <a:latin typeface="Calibri"/>
                <a:ea typeface="Calibri"/>
                <a:cs typeface="Calibri"/>
                <a:sym typeface="Calibri"/>
              </a:rPr>
              <a:t>Innovación:</a:t>
            </a:r>
            <a:r>
              <a:rPr lang="es-CL" sz="1500">
                <a:solidFill>
                  <a:schemeClr val="dk1"/>
                </a:solidFill>
                <a:latin typeface="Calibri"/>
                <a:ea typeface="Calibri"/>
                <a:cs typeface="Calibri"/>
                <a:sym typeface="Calibri"/>
              </a:rPr>
              <a:t> No es solo un sistema de pedidos, sino un </a:t>
            </a:r>
            <a:r>
              <a:rPr b="1" lang="es-CL" sz="1500">
                <a:solidFill>
                  <a:schemeClr val="dk1"/>
                </a:solidFill>
                <a:latin typeface="Calibri"/>
                <a:ea typeface="Calibri"/>
                <a:cs typeface="Calibri"/>
                <a:sym typeface="Calibri"/>
              </a:rPr>
              <a:t>ecosistema de gestión interna</a:t>
            </a:r>
            <a:r>
              <a:rPr lang="es-CL" sz="1500">
                <a:solidFill>
                  <a:schemeClr val="dk1"/>
                </a:solidFill>
                <a:latin typeface="Calibri"/>
                <a:ea typeface="Calibri"/>
                <a:cs typeface="Calibri"/>
                <a:sym typeface="Calibri"/>
              </a:rPr>
              <a:t> que conecta solicitudes con stock real y prioridades.</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5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a9c6152283_0_199"/>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sp>
        <p:nvSpPr>
          <p:cNvPr id="150" name="Google Shape;150;g3a9c6152283_0_199"/>
          <p:cNvSpPr txBox="1"/>
          <p:nvPr/>
        </p:nvSpPr>
        <p:spPr>
          <a:xfrm>
            <a:off x="-12" y="831880"/>
            <a:ext cx="12192000" cy="630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0000"/>
              </a:buClr>
              <a:buFont typeface="Arial"/>
              <a:buNone/>
            </a:pPr>
            <a:r>
              <a:rPr lang="es-CL" sz="3500">
                <a:solidFill>
                  <a:schemeClr val="dk1"/>
                </a:solidFill>
                <a:latin typeface="Calibri"/>
                <a:ea typeface="Calibri"/>
                <a:cs typeface="Calibri"/>
                <a:sym typeface="Calibri"/>
              </a:rPr>
              <a:t>Participación del Equipo – Roles y Aportes</a:t>
            </a:r>
            <a:endParaRPr sz="3500"/>
          </a:p>
        </p:txBody>
      </p:sp>
      <p:graphicFrame>
        <p:nvGraphicFramePr>
          <p:cNvPr id="151" name="Google Shape;151;g3a9c6152283_0_199"/>
          <p:cNvGraphicFramePr/>
          <p:nvPr/>
        </p:nvGraphicFramePr>
        <p:xfrm>
          <a:off x="115750" y="1462775"/>
          <a:ext cx="3000000" cy="3000000"/>
        </p:xfrm>
        <a:graphic>
          <a:graphicData uri="http://schemas.openxmlformats.org/drawingml/2006/table">
            <a:tbl>
              <a:tblPr>
                <a:noFill/>
                <a:tableStyleId>{4F083F6B-9C2D-4B4F-8196-59A929FA400A}</a:tableStyleId>
              </a:tblPr>
              <a:tblGrid>
                <a:gridCol w="1097175"/>
                <a:gridCol w="1549250"/>
                <a:gridCol w="5321525"/>
                <a:gridCol w="3992525"/>
              </a:tblGrid>
              <a:tr h="674300">
                <a:tc>
                  <a:txBody>
                    <a:bodyPr/>
                    <a:lstStyle/>
                    <a:p>
                      <a:pPr indent="0" lvl="0" marL="0" rtl="0" algn="ctr">
                        <a:lnSpc>
                          <a:spcPct val="115000"/>
                        </a:lnSpc>
                        <a:spcBef>
                          <a:spcPts val="0"/>
                        </a:spcBef>
                        <a:spcAft>
                          <a:spcPts val="0"/>
                        </a:spcAft>
                        <a:buNone/>
                      </a:pPr>
                      <a:r>
                        <a:rPr b="1" lang="es-CL" sz="1500">
                          <a:latin typeface="Calibri"/>
                          <a:ea typeface="Calibri"/>
                          <a:cs typeface="Calibri"/>
                          <a:sym typeface="Calibri"/>
                        </a:rPr>
                        <a:t>Integrante</a:t>
                      </a:r>
                      <a:endParaRPr b="1"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s-CL" sz="1500">
                          <a:latin typeface="Calibri"/>
                          <a:ea typeface="Calibri"/>
                          <a:cs typeface="Calibri"/>
                          <a:sym typeface="Calibri"/>
                        </a:rPr>
                        <a:t>Rol</a:t>
                      </a:r>
                      <a:endParaRPr b="1"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s-CL" sz="1500">
                          <a:latin typeface="Calibri"/>
                          <a:ea typeface="Calibri"/>
                          <a:cs typeface="Calibri"/>
                          <a:sym typeface="Calibri"/>
                        </a:rPr>
                        <a:t>Responsabilidades</a:t>
                      </a:r>
                      <a:endParaRPr b="1"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b="1" lang="es-CL" sz="1500">
                          <a:latin typeface="Calibri"/>
                          <a:ea typeface="Calibri"/>
                          <a:cs typeface="Calibri"/>
                          <a:sym typeface="Calibri"/>
                        </a:rPr>
                        <a:t>Aportes destacados</a:t>
                      </a:r>
                      <a:endParaRPr b="1"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A4C2F4"/>
                    </a:solidFill>
                  </a:tcPr>
                </a:tc>
              </a:tr>
              <a:tr h="1490975">
                <a:tc>
                  <a:txBody>
                    <a:bodyPr/>
                    <a:lstStyle/>
                    <a:p>
                      <a:pPr indent="0" lvl="0" marL="0" rtl="0" algn="l">
                        <a:spcBef>
                          <a:spcPts val="0"/>
                        </a:spcBef>
                        <a:spcAft>
                          <a:spcPts val="0"/>
                        </a:spcAft>
                        <a:buNone/>
                      </a:pPr>
                      <a:r>
                        <a:rPr b="1" lang="es-CL" sz="1500">
                          <a:latin typeface="Calibri"/>
                          <a:ea typeface="Calibri"/>
                          <a:cs typeface="Calibri"/>
                          <a:sym typeface="Calibri"/>
                        </a:rPr>
                        <a:t>Bayron Ventura</a:t>
                      </a:r>
                      <a:endParaRPr b="1"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Jefe de Proyecto / Arquitectura / Full Stack</a:t>
                      </a:r>
                      <a:endParaRPr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 Coordinación del proyecto, cronograma y reuniones.</a:t>
                      </a:r>
                      <a:endParaRPr sz="1500">
                        <a:latin typeface="Calibri"/>
                        <a:ea typeface="Calibri"/>
                        <a:cs typeface="Calibri"/>
                        <a:sym typeface="Calibri"/>
                      </a:endParaRPr>
                    </a:p>
                    <a:p>
                      <a:pPr indent="0" lvl="0" marL="0" rtl="0" algn="l">
                        <a:spcBef>
                          <a:spcPts val="0"/>
                        </a:spcBef>
                        <a:spcAft>
                          <a:spcPts val="0"/>
                        </a:spcAft>
                        <a:buNone/>
                      </a:pPr>
                      <a:r>
                        <a:rPr lang="es-CL" sz="1500">
                          <a:latin typeface="Calibri"/>
                          <a:ea typeface="Calibri"/>
                          <a:cs typeface="Calibri"/>
                          <a:sym typeface="Calibri"/>
                        </a:rPr>
                        <a:t>• Diseño de arquitectura del sistema y flujos.</a:t>
                      </a:r>
                      <a:endParaRPr sz="1500">
                        <a:latin typeface="Calibri"/>
                        <a:ea typeface="Calibri"/>
                        <a:cs typeface="Calibri"/>
                        <a:sym typeface="Calibri"/>
                      </a:endParaRPr>
                    </a:p>
                    <a:p>
                      <a:pPr indent="0" lvl="0" marL="0" rtl="0" algn="l">
                        <a:spcBef>
                          <a:spcPts val="0"/>
                        </a:spcBef>
                        <a:spcAft>
                          <a:spcPts val="0"/>
                        </a:spcAft>
                        <a:buNone/>
                      </a:pPr>
                      <a:r>
                        <a:rPr lang="es-CL" sz="1500">
                          <a:latin typeface="Calibri"/>
                          <a:ea typeface="Calibri"/>
                          <a:cs typeface="Calibri"/>
                          <a:sym typeface="Calibri"/>
                        </a:rPr>
                        <a:t>• Integración frontend–backend.</a:t>
                      </a:r>
                      <a:endParaRPr sz="1500">
                        <a:latin typeface="Calibri"/>
                        <a:ea typeface="Calibri"/>
                        <a:cs typeface="Calibri"/>
                        <a:sym typeface="Calibri"/>
                      </a:endParaRPr>
                    </a:p>
                    <a:p>
                      <a:pPr indent="0" lvl="0" marL="0" rtl="0" algn="l">
                        <a:spcBef>
                          <a:spcPts val="0"/>
                        </a:spcBef>
                        <a:spcAft>
                          <a:spcPts val="0"/>
                        </a:spcAft>
                        <a:buNone/>
                      </a:pPr>
                      <a:r>
                        <a:rPr lang="es-CL" sz="1500">
                          <a:latin typeface="Calibri"/>
                          <a:ea typeface="Calibri"/>
                          <a:cs typeface="Calibri"/>
                          <a:sym typeface="Calibri"/>
                        </a:rPr>
                        <a:t>• Supervisión técnica del MER, auditoría y seguridad.</a:t>
                      </a:r>
                      <a:endParaRPr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 Diagrama de arquitectura.</a:t>
                      </a:r>
                      <a:endParaRPr sz="1500">
                        <a:latin typeface="Calibri"/>
                        <a:ea typeface="Calibri"/>
                        <a:cs typeface="Calibri"/>
                        <a:sym typeface="Calibri"/>
                      </a:endParaRPr>
                    </a:p>
                    <a:p>
                      <a:pPr indent="0" lvl="0" marL="0" rtl="0" algn="l">
                        <a:spcBef>
                          <a:spcPts val="0"/>
                        </a:spcBef>
                        <a:spcAft>
                          <a:spcPts val="0"/>
                        </a:spcAft>
                        <a:buNone/>
                      </a:pPr>
                      <a:r>
                        <a:rPr lang="es-CL" sz="1500">
                          <a:latin typeface="Calibri"/>
                          <a:ea typeface="Calibri"/>
                          <a:cs typeface="Calibri"/>
                          <a:sym typeface="Calibri"/>
                        </a:rPr>
                        <a:t>• Integración general del MVP.</a:t>
                      </a:r>
                      <a:endParaRPr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153550">
                <a:tc>
                  <a:txBody>
                    <a:bodyPr/>
                    <a:lstStyle/>
                    <a:p>
                      <a:pPr indent="0" lvl="0" marL="0" rtl="0" algn="l">
                        <a:spcBef>
                          <a:spcPts val="0"/>
                        </a:spcBef>
                        <a:spcAft>
                          <a:spcPts val="0"/>
                        </a:spcAft>
                        <a:buNone/>
                      </a:pPr>
                      <a:r>
                        <a:rPr b="1" lang="es-CL" sz="1500">
                          <a:latin typeface="Calibri"/>
                          <a:ea typeface="Calibri"/>
                          <a:cs typeface="Calibri"/>
                          <a:sym typeface="Calibri"/>
                        </a:rPr>
                        <a:t>Camilo Chávez</a:t>
                      </a:r>
                      <a:endParaRPr b="1"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Documentación / Backend</a:t>
                      </a:r>
                      <a:endParaRPr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 Elaboración de documentación técnica completa.</a:t>
                      </a:r>
                      <a:endParaRPr sz="1500">
                        <a:latin typeface="Calibri"/>
                        <a:ea typeface="Calibri"/>
                        <a:cs typeface="Calibri"/>
                        <a:sym typeface="Calibri"/>
                      </a:endParaRPr>
                    </a:p>
                    <a:p>
                      <a:pPr indent="0" lvl="0" marL="0" rtl="0" algn="l">
                        <a:spcBef>
                          <a:spcPts val="0"/>
                        </a:spcBef>
                        <a:spcAft>
                          <a:spcPts val="0"/>
                        </a:spcAft>
                        <a:buNone/>
                      </a:pPr>
                      <a:r>
                        <a:rPr lang="es-CL" sz="1500">
                          <a:latin typeface="Calibri"/>
                          <a:ea typeface="Calibri"/>
                          <a:cs typeface="Calibri"/>
                          <a:sym typeface="Calibri"/>
                        </a:rPr>
                        <a:t>• Desarrollo de módulos backend: solicitudes, notificaciones, seguridad.</a:t>
                      </a:r>
                      <a:endParaRPr sz="1500">
                        <a:latin typeface="Calibri"/>
                        <a:ea typeface="Calibri"/>
                        <a:cs typeface="Calibri"/>
                        <a:sym typeface="Calibri"/>
                      </a:endParaRPr>
                    </a:p>
                    <a:p>
                      <a:pPr indent="0" lvl="0" marL="0" rtl="0" algn="l">
                        <a:spcBef>
                          <a:spcPts val="0"/>
                        </a:spcBef>
                        <a:spcAft>
                          <a:spcPts val="0"/>
                        </a:spcAft>
                        <a:buNone/>
                      </a:pPr>
                      <a:r>
                        <a:rPr lang="es-CL" sz="1500">
                          <a:latin typeface="Calibri"/>
                          <a:ea typeface="Calibri"/>
                          <a:cs typeface="Calibri"/>
                          <a:sym typeface="Calibri"/>
                        </a:rPr>
                        <a:t>• Preparación de artefactos UML (casos de uso, actividad, estado).</a:t>
                      </a:r>
                      <a:endParaRPr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 Casos de uso y documentación funcional.</a:t>
                      </a:r>
                      <a:endParaRPr sz="1500">
                        <a:latin typeface="Calibri"/>
                        <a:ea typeface="Calibri"/>
                        <a:cs typeface="Calibri"/>
                        <a:sym typeface="Calibri"/>
                      </a:endParaRPr>
                    </a:p>
                    <a:p>
                      <a:pPr indent="0" lvl="0" marL="0" rtl="0" algn="l">
                        <a:spcBef>
                          <a:spcPts val="0"/>
                        </a:spcBef>
                        <a:spcAft>
                          <a:spcPts val="0"/>
                        </a:spcAft>
                        <a:buNone/>
                      </a:pPr>
                      <a:r>
                        <a:rPr lang="es-CL" sz="1500">
                          <a:latin typeface="Calibri"/>
                          <a:ea typeface="Calibri"/>
                          <a:cs typeface="Calibri"/>
                          <a:sym typeface="Calibri"/>
                        </a:rPr>
                        <a:t>• Implementación del módulo de auditoría.</a:t>
                      </a:r>
                      <a:endParaRPr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33175">
                <a:tc>
                  <a:txBody>
                    <a:bodyPr/>
                    <a:lstStyle/>
                    <a:p>
                      <a:pPr indent="0" lvl="0" marL="0" rtl="0" algn="l">
                        <a:spcBef>
                          <a:spcPts val="0"/>
                        </a:spcBef>
                        <a:spcAft>
                          <a:spcPts val="0"/>
                        </a:spcAft>
                        <a:buNone/>
                      </a:pPr>
                      <a:r>
                        <a:rPr b="1" lang="es-CL" sz="1500">
                          <a:latin typeface="Calibri"/>
                          <a:ea typeface="Calibri"/>
                          <a:cs typeface="Calibri"/>
                          <a:sym typeface="Calibri"/>
                        </a:rPr>
                        <a:t>Hugo González</a:t>
                      </a:r>
                      <a:endParaRPr b="1"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Frontend</a:t>
                      </a:r>
                      <a:endParaRPr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 Construcción de todas las vistas en React.</a:t>
                      </a:r>
                      <a:endParaRPr sz="1500">
                        <a:latin typeface="Calibri"/>
                        <a:ea typeface="Calibri"/>
                        <a:cs typeface="Calibri"/>
                        <a:sym typeface="Calibri"/>
                      </a:endParaRPr>
                    </a:p>
                    <a:p>
                      <a:pPr indent="0" lvl="0" marL="0" rtl="0" algn="l">
                        <a:spcBef>
                          <a:spcPts val="0"/>
                        </a:spcBef>
                        <a:spcAft>
                          <a:spcPts val="0"/>
                        </a:spcAft>
                        <a:buNone/>
                      </a:pPr>
                      <a:r>
                        <a:rPr lang="es-CL" sz="1500">
                          <a:latin typeface="Calibri"/>
                          <a:ea typeface="Calibri"/>
                          <a:cs typeface="Calibri"/>
                          <a:sym typeface="Calibri"/>
                        </a:rPr>
                        <a:t>• Diseño responsivo y flujo de interfaz.</a:t>
                      </a:r>
                      <a:endParaRPr sz="1500">
                        <a:latin typeface="Calibri"/>
                        <a:ea typeface="Calibri"/>
                        <a:cs typeface="Calibri"/>
                        <a:sym typeface="Calibri"/>
                      </a:endParaRPr>
                    </a:p>
                    <a:p>
                      <a:pPr indent="0" lvl="0" marL="0" rtl="0" algn="l">
                        <a:spcBef>
                          <a:spcPts val="0"/>
                        </a:spcBef>
                        <a:spcAft>
                          <a:spcPts val="0"/>
                        </a:spcAft>
                        <a:buNone/>
                      </a:pPr>
                      <a:r>
                        <a:rPr lang="es-CL" sz="1500">
                          <a:latin typeface="Calibri"/>
                          <a:ea typeface="Calibri"/>
                          <a:cs typeface="Calibri"/>
                          <a:sym typeface="Calibri"/>
                        </a:rPr>
                        <a:t>• Validaciones de usuario y formularios.</a:t>
                      </a:r>
                      <a:endParaRPr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 Vistas del sistema.</a:t>
                      </a:r>
                      <a:endParaRPr sz="1500">
                        <a:latin typeface="Calibri"/>
                        <a:ea typeface="Calibri"/>
                        <a:cs typeface="Calibri"/>
                        <a:sym typeface="Calibri"/>
                      </a:endParaRPr>
                    </a:p>
                    <a:p>
                      <a:pPr indent="0" lvl="0" marL="0" rtl="0" algn="l">
                        <a:spcBef>
                          <a:spcPts val="0"/>
                        </a:spcBef>
                        <a:spcAft>
                          <a:spcPts val="0"/>
                        </a:spcAft>
                        <a:buNone/>
                      </a:pPr>
                      <a:r>
                        <a:rPr lang="es-CL" sz="1500">
                          <a:latin typeface="Calibri"/>
                          <a:ea typeface="Calibri"/>
                          <a:cs typeface="Calibri"/>
                          <a:sym typeface="Calibri"/>
                        </a:rPr>
                        <a:t>• Experiencia de usuario (UX).</a:t>
                      </a:r>
                      <a:endParaRPr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33175">
                <a:tc>
                  <a:txBody>
                    <a:bodyPr/>
                    <a:lstStyle/>
                    <a:p>
                      <a:pPr indent="0" lvl="0" marL="0" rtl="0" algn="l">
                        <a:spcBef>
                          <a:spcPts val="0"/>
                        </a:spcBef>
                        <a:spcAft>
                          <a:spcPts val="0"/>
                        </a:spcAft>
                        <a:buNone/>
                      </a:pPr>
                      <a:r>
                        <a:rPr b="1" lang="es-CL" sz="1500">
                          <a:latin typeface="Calibri"/>
                          <a:ea typeface="Calibri"/>
                          <a:cs typeface="Calibri"/>
                          <a:sym typeface="Calibri"/>
                        </a:rPr>
                        <a:t>Diego Osores</a:t>
                      </a:r>
                      <a:endParaRPr b="1"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Base de Datos / Backend</a:t>
                      </a:r>
                      <a:endParaRPr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 Diseño y normalización del MER.</a:t>
                      </a:r>
                      <a:endParaRPr sz="1500">
                        <a:latin typeface="Calibri"/>
                        <a:ea typeface="Calibri"/>
                        <a:cs typeface="Calibri"/>
                        <a:sym typeface="Calibri"/>
                      </a:endParaRPr>
                    </a:p>
                    <a:p>
                      <a:pPr indent="0" lvl="0" marL="0" rtl="0" algn="l">
                        <a:spcBef>
                          <a:spcPts val="0"/>
                        </a:spcBef>
                        <a:spcAft>
                          <a:spcPts val="0"/>
                        </a:spcAft>
                        <a:buNone/>
                      </a:pPr>
                      <a:r>
                        <a:rPr lang="es-CL" sz="1500">
                          <a:latin typeface="Calibri"/>
                          <a:ea typeface="Calibri"/>
                          <a:cs typeface="Calibri"/>
                          <a:sym typeface="Calibri"/>
                        </a:rPr>
                        <a:t>• Implementación de consultas y lógica SQL.</a:t>
                      </a:r>
                      <a:endParaRPr sz="1500">
                        <a:latin typeface="Calibri"/>
                        <a:ea typeface="Calibri"/>
                        <a:cs typeface="Calibri"/>
                        <a:sym typeface="Calibri"/>
                      </a:endParaRPr>
                    </a:p>
                    <a:p>
                      <a:pPr indent="0" lvl="0" marL="0" rtl="0" algn="l">
                        <a:spcBef>
                          <a:spcPts val="0"/>
                        </a:spcBef>
                        <a:spcAft>
                          <a:spcPts val="0"/>
                        </a:spcAft>
                        <a:buNone/>
                      </a:pPr>
                      <a:r>
                        <a:rPr lang="es-CL" sz="1500">
                          <a:latin typeface="Calibri"/>
                          <a:ea typeface="Calibri"/>
                          <a:cs typeface="Calibri"/>
                          <a:sym typeface="Calibri"/>
                        </a:rPr>
                        <a:t>• Apoyo en backend y seguridad de datos.</a:t>
                      </a:r>
                      <a:endParaRPr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s-CL" sz="1500">
                          <a:latin typeface="Calibri"/>
                          <a:ea typeface="Calibri"/>
                          <a:cs typeface="Calibri"/>
                          <a:sym typeface="Calibri"/>
                        </a:rPr>
                        <a:t>• Modelo MER y estructura de la BD.</a:t>
                      </a:r>
                      <a:endParaRPr sz="1500">
                        <a:latin typeface="Calibri"/>
                        <a:ea typeface="Calibri"/>
                        <a:cs typeface="Calibri"/>
                        <a:sym typeface="Calibri"/>
                      </a:endParaRPr>
                    </a:p>
                    <a:p>
                      <a:pPr indent="0" lvl="0" marL="0" rtl="0" algn="l">
                        <a:spcBef>
                          <a:spcPts val="0"/>
                        </a:spcBef>
                        <a:spcAft>
                          <a:spcPts val="0"/>
                        </a:spcAft>
                        <a:buNone/>
                      </a:pPr>
                      <a:r>
                        <a:rPr lang="es-CL" sz="1500">
                          <a:latin typeface="Calibri"/>
                          <a:ea typeface="Calibri"/>
                          <a:cs typeface="Calibri"/>
                          <a:sym typeface="Calibri"/>
                        </a:rPr>
                        <a:t>• Optimización de integridad y relaciones.</a:t>
                      </a:r>
                      <a:endParaRPr sz="1500">
                        <a:latin typeface="Calibri"/>
                        <a:ea typeface="Calibri"/>
                        <a:cs typeface="Calibri"/>
                        <a:sym typeface="Calibri"/>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aac5b913e3_0_13"/>
          <p:cNvSpPr txBox="1"/>
          <p:nvPr/>
        </p:nvSpPr>
        <p:spPr>
          <a:xfrm>
            <a:off x="1754550" y="2337775"/>
            <a:ext cx="3939900" cy="66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2400">
                <a:latin typeface="Franklin Gothic"/>
                <a:ea typeface="Franklin Gothic"/>
                <a:cs typeface="Franklin Gothic"/>
                <a:sym typeface="Franklin Gothic"/>
              </a:rPr>
              <a:t>Necesidad de insumo</a:t>
            </a:r>
            <a:endParaRPr b="1" sz="2400">
              <a:latin typeface="Franklin Gothic"/>
              <a:ea typeface="Franklin Gothic"/>
              <a:cs typeface="Franklin Gothic"/>
              <a:sym typeface="Franklin Gothic"/>
            </a:endParaRPr>
          </a:p>
        </p:txBody>
      </p:sp>
      <p:sp>
        <p:nvSpPr>
          <p:cNvPr id="158" name="Google Shape;158;g3aac5b913e3_0_13"/>
          <p:cNvSpPr txBox="1"/>
          <p:nvPr/>
        </p:nvSpPr>
        <p:spPr>
          <a:xfrm>
            <a:off x="1712600" y="1329513"/>
            <a:ext cx="76413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1500">
                <a:latin typeface="Calibri"/>
                <a:ea typeface="Calibri"/>
                <a:cs typeface="Calibri"/>
                <a:sym typeface="Calibri"/>
              </a:rPr>
              <a:t>El procedimiento se realiza de forma manual y poco estructurada, con una secuencia básica entre el trabajador y el jefe. Este flujo </a:t>
            </a:r>
            <a:r>
              <a:rPr lang="es-CL" sz="1500">
                <a:latin typeface="Calibri"/>
                <a:ea typeface="Calibri"/>
                <a:cs typeface="Calibri"/>
                <a:sym typeface="Calibri"/>
              </a:rPr>
              <a:t>"bastante rudimentario"</a:t>
            </a:r>
            <a:r>
              <a:rPr lang="es-CL" sz="1500">
                <a:latin typeface="Calibri"/>
                <a:ea typeface="Calibri"/>
                <a:cs typeface="Calibri"/>
                <a:sym typeface="Calibri"/>
              </a:rPr>
              <a:t> limita la trazabilidad, dificulta el control de solicitudes y no permite una gestión eficiente de tiempos ni recursos. </a:t>
            </a:r>
            <a:endParaRPr sz="1500">
              <a:latin typeface="Calibri"/>
              <a:ea typeface="Calibri"/>
              <a:cs typeface="Calibri"/>
              <a:sym typeface="Calibri"/>
            </a:endParaRPr>
          </a:p>
        </p:txBody>
      </p:sp>
      <p:pic>
        <p:nvPicPr>
          <p:cNvPr id="159" name="Google Shape;159;g3aac5b913e3_0_13"/>
          <p:cNvPicPr preferRelativeResize="0"/>
          <p:nvPr/>
        </p:nvPicPr>
        <p:blipFill>
          <a:blip r:embed="rId3">
            <a:alphaModFix/>
          </a:blip>
          <a:stretch>
            <a:fillRect/>
          </a:stretch>
        </p:blipFill>
        <p:spPr>
          <a:xfrm>
            <a:off x="3017650" y="2810375"/>
            <a:ext cx="6156701" cy="3924199"/>
          </a:xfrm>
          <a:prstGeom prst="rect">
            <a:avLst/>
          </a:prstGeom>
          <a:noFill/>
          <a:ln>
            <a:noFill/>
          </a:ln>
        </p:spPr>
      </p:pic>
      <p:sp>
        <p:nvSpPr>
          <p:cNvPr id="160" name="Google Shape;160;g3aac5b913e3_0_13"/>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sp>
        <p:nvSpPr>
          <p:cNvPr id="161" name="Google Shape;161;g3aac5b913e3_0_13"/>
          <p:cNvSpPr txBox="1"/>
          <p:nvPr/>
        </p:nvSpPr>
        <p:spPr>
          <a:xfrm>
            <a:off x="2119025" y="642413"/>
            <a:ext cx="7458000" cy="577200"/>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SzPts val="1100"/>
              <a:buNone/>
            </a:pPr>
            <a:r>
              <a:rPr lang="es-CL" sz="3500">
                <a:solidFill>
                  <a:schemeClr val="dk1"/>
                </a:solidFill>
                <a:latin typeface="Calibri"/>
                <a:ea typeface="Calibri"/>
                <a:cs typeface="Calibri"/>
                <a:sym typeface="Calibri"/>
              </a:rPr>
              <a:t>AS-IS</a:t>
            </a:r>
            <a:endParaRPr sz="4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aac5b913e3_0_22"/>
          <p:cNvSpPr txBox="1"/>
          <p:nvPr/>
        </p:nvSpPr>
        <p:spPr>
          <a:xfrm>
            <a:off x="2035325" y="5552425"/>
            <a:ext cx="7541700" cy="12429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Font typeface="Calibri"/>
              <a:buChar char="●"/>
            </a:pPr>
            <a:r>
              <a:rPr lang="es-CL" sz="1500">
                <a:latin typeface="Calibri"/>
                <a:ea typeface="Calibri"/>
                <a:cs typeface="Calibri"/>
                <a:sym typeface="Calibri"/>
              </a:rPr>
              <a:t>Estructura clara por roles</a:t>
            </a:r>
            <a:endParaRPr sz="1500">
              <a:latin typeface="Calibri"/>
              <a:ea typeface="Calibri"/>
              <a:cs typeface="Calibri"/>
              <a:sym typeface="Calibri"/>
            </a:endParaRPr>
          </a:p>
          <a:p>
            <a:pPr indent="-323850" lvl="0" marL="457200" rtl="0" algn="l">
              <a:spcBef>
                <a:spcPts val="0"/>
              </a:spcBef>
              <a:spcAft>
                <a:spcPts val="0"/>
              </a:spcAft>
              <a:buSzPts val="1500"/>
              <a:buFont typeface="Calibri"/>
              <a:buChar char="●"/>
            </a:pPr>
            <a:r>
              <a:rPr lang="es-CL" sz="1500">
                <a:latin typeface="Calibri"/>
                <a:ea typeface="Calibri"/>
                <a:cs typeface="Calibri"/>
                <a:sym typeface="Calibri"/>
              </a:rPr>
              <a:t>Validaciones y decisiones automatizadas</a:t>
            </a:r>
            <a:endParaRPr sz="1500">
              <a:latin typeface="Calibri"/>
              <a:ea typeface="Calibri"/>
              <a:cs typeface="Calibri"/>
              <a:sym typeface="Calibri"/>
            </a:endParaRPr>
          </a:p>
          <a:p>
            <a:pPr indent="-323850" lvl="0" marL="457200" rtl="0" algn="l">
              <a:spcBef>
                <a:spcPts val="0"/>
              </a:spcBef>
              <a:spcAft>
                <a:spcPts val="0"/>
              </a:spcAft>
              <a:buSzPts val="1500"/>
              <a:buFont typeface="Calibri"/>
              <a:buChar char="●"/>
            </a:pPr>
            <a:r>
              <a:rPr lang="es-CL" sz="1500">
                <a:latin typeface="Calibri"/>
                <a:ea typeface="Calibri"/>
                <a:cs typeface="Calibri"/>
                <a:sym typeface="Calibri"/>
              </a:rPr>
              <a:t>Mayor transparencia y seguimiento</a:t>
            </a:r>
            <a:endParaRPr sz="1500">
              <a:latin typeface="Calibri"/>
              <a:ea typeface="Calibri"/>
              <a:cs typeface="Calibri"/>
              <a:sym typeface="Calibri"/>
            </a:endParaRPr>
          </a:p>
          <a:p>
            <a:pPr indent="-323850" lvl="0" marL="457200" rtl="0" algn="l">
              <a:spcBef>
                <a:spcPts val="0"/>
              </a:spcBef>
              <a:spcAft>
                <a:spcPts val="0"/>
              </a:spcAft>
              <a:buSzPts val="1500"/>
              <a:buFont typeface="Calibri"/>
              <a:buChar char="●"/>
            </a:pPr>
            <a:r>
              <a:rPr lang="es-CL" sz="1500">
                <a:latin typeface="Calibri"/>
                <a:ea typeface="Calibri"/>
                <a:cs typeface="Calibri"/>
                <a:sym typeface="Calibri"/>
              </a:rPr>
              <a:t>Reducción de tiempos y carga operativa</a:t>
            </a:r>
            <a:endParaRPr sz="1500">
              <a:latin typeface="Calibri"/>
              <a:ea typeface="Calibri"/>
              <a:cs typeface="Calibri"/>
              <a:sym typeface="Calibri"/>
            </a:endParaRPr>
          </a:p>
          <a:p>
            <a:pPr indent="-323850" lvl="0" marL="457200" rtl="0" algn="l">
              <a:spcBef>
                <a:spcPts val="0"/>
              </a:spcBef>
              <a:spcAft>
                <a:spcPts val="0"/>
              </a:spcAft>
              <a:buSzPts val="1500"/>
              <a:buFont typeface="Calibri"/>
              <a:buChar char="●"/>
            </a:pPr>
            <a:r>
              <a:rPr lang="es-CL" sz="1500">
                <a:latin typeface="Calibri"/>
                <a:ea typeface="Calibri"/>
                <a:cs typeface="Calibri"/>
                <a:sym typeface="Calibri"/>
              </a:rPr>
              <a:t>Base para implementación tecnológica</a:t>
            </a:r>
            <a:endParaRPr sz="1500">
              <a:latin typeface="Calibri"/>
              <a:ea typeface="Calibri"/>
              <a:cs typeface="Calibri"/>
              <a:sym typeface="Calibri"/>
            </a:endParaRPr>
          </a:p>
        </p:txBody>
      </p:sp>
      <p:sp>
        <p:nvSpPr>
          <p:cNvPr id="168" name="Google Shape;168;g3aac5b913e3_0_22"/>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sp>
        <p:nvSpPr>
          <p:cNvPr id="169" name="Google Shape;169;g3aac5b913e3_0_22"/>
          <p:cNvSpPr txBox="1"/>
          <p:nvPr/>
        </p:nvSpPr>
        <p:spPr>
          <a:xfrm>
            <a:off x="2119025" y="642413"/>
            <a:ext cx="7458000" cy="577200"/>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SzPts val="1100"/>
              <a:buNone/>
            </a:pPr>
            <a:r>
              <a:rPr lang="es-CL" sz="3500">
                <a:solidFill>
                  <a:schemeClr val="dk1"/>
                </a:solidFill>
                <a:latin typeface="Calibri"/>
                <a:ea typeface="Calibri"/>
                <a:cs typeface="Calibri"/>
                <a:sym typeface="Calibri"/>
              </a:rPr>
              <a:t>TO-BE</a:t>
            </a:r>
            <a:endParaRPr sz="4000">
              <a:solidFill>
                <a:schemeClr val="dk1"/>
              </a:solidFill>
              <a:latin typeface="Calibri"/>
              <a:ea typeface="Calibri"/>
              <a:cs typeface="Calibri"/>
              <a:sym typeface="Calibri"/>
            </a:endParaRPr>
          </a:p>
        </p:txBody>
      </p:sp>
      <p:pic>
        <p:nvPicPr>
          <p:cNvPr id="170" name="Google Shape;170;g3aac5b913e3_0_22" title="To-Be_V2.png"/>
          <p:cNvPicPr preferRelativeResize="0"/>
          <p:nvPr/>
        </p:nvPicPr>
        <p:blipFill>
          <a:blip r:embed="rId3">
            <a:alphaModFix/>
          </a:blip>
          <a:stretch>
            <a:fillRect/>
          </a:stretch>
        </p:blipFill>
        <p:spPr>
          <a:xfrm>
            <a:off x="1141500" y="1372013"/>
            <a:ext cx="9413060" cy="41325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aa3fffeca4_1_108"/>
          <p:cNvSpPr txBox="1"/>
          <p:nvPr/>
        </p:nvSpPr>
        <p:spPr>
          <a:xfrm>
            <a:off x="1670800" y="5859225"/>
            <a:ext cx="7990500" cy="67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CL" sz="1500">
                <a:latin typeface="Calibri"/>
                <a:ea typeface="Calibri"/>
                <a:cs typeface="Calibri"/>
                <a:sym typeface="Calibri"/>
              </a:rPr>
              <a:t>Estos KPIs permitirán a la organización evaluar la eficiencia operativa, detectar oportunidades de mejora y tomar decisiones basadas en datos reales. Su integración será fundamental para asegurar la trazabilidad, transparencia y calidad del servicio.</a:t>
            </a:r>
            <a:endParaRPr sz="1500">
              <a:latin typeface="Calibri"/>
              <a:ea typeface="Calibri"/>
              <a:cs typeface="Calibri"/>
              <a:sym typeface="Calibri"/>
            </a:endParaRPr>
          </a:p>
        </p:txBody>
      </p:sp>
      <p:sp>
        <p:nvSpPr>
          <p:cNvPr id="177" name="Google Shape;177;g3aa3fffeca4_1_108"/>
          <p:cNvSpPr txBox="1"/>
          <p:nvPr/>
        </p:nvSpPr>
        <p:spPr>
          <a:xfrm>
            <a:off x="1524000" y="1156125"/>
            <a:ext cx="9144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CL" sz="1500">
                <a:latin typeface="Calibri"/>
                <a:ea typeface="Calibri"/>
                <a:cs typeface="Calibri"/>
                <a:sym typeface="Calibri"/>
              </a:rPr>
              <a:t>Con la futura puesta en marcha del sistema de gestión de solicitudes de turnos, se propone incorporar tres indicadores clave de desempeño (KPIs) para monitorear y mejorar el proceso:</a:t>
            </a:r>
            <a:endParaRPr sz="1500">
              <a:latin typeface="Calibri"/>
              <a:ea typeface="Calibri"/>
              <a:cs typeface="Calibri"/>
              <a:sym typeface="Calibri"/>
            </a:endParaRPr>
          </a:p>
        </p:txBody>
      </p:sp>
      <p:sp>
        <p:nvSpPr>
          <p:cNvPr id="178" name="Google Shape;178;g3aa3fffeca4_1_108"/>
          <p:cNvSpPr txBox="1"/>
          <p:nvPr/>
        </p:nvSpPr>
        <p:spPr>
          <a:xfrm>
            <a:off x="1524000" y="1929275"/>
            <a:ext cx="9144000" cy="877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SzPts val="1500"/>
              <a:buFont typeface="Calibri"/>
              <a:buAutoNum type="arabicPeriod"/>
            </a:pPr>
            <a:r>
              <a:rPr lang="es-CL" sz="1500">
                <a:latin typeface="Calibri"/>
                <a:ea typeface="Calibri"/>
                <a:cs typeface="Calibri"/>
                <a:sym typeface="Calibri"/>
              </a:rPr>
              <a:t>Tasa de aprobación de solicitudes</a:t>
            </a:r>
            <a:endParaRPr sz="1500">
              <a:latin typeface="Calibri"/>
              <a:ea typeface="Calibri"/>
              <a:cs typeface="Calibri"/>
              <a:sym typeface="Calibri"/>
            </a:endParaRPr>
          </a:p>
          <a:p>
            <a:pPr indent="-323850" lvl="0" marL="457200" rtl="0" algn="l">
              <a:spcBef>
                <a:spcPts val="0"/>
              </a:spcBef>
              <a:spcAft>
                <a:spcPts val="0"/>
              </a:spcAft>
              <a:buSzPts val="1500"/>
              <a:buFont typeface="Calibri"/>
              <a:buAutoNum type="arabicPeriod"/>
            </a:pPr>
            <a:r>
              <a:rPr lang="es-CL" sz="1500">
                <a:latin typeface="Calibri"/>
                <a:ea typeface="Calibri"/>
                <a:cs typeface="Calibri"/>
                <a:sym typeface="Calibri"/>
              </a:rPr>
              <a:t>Frecuencia de solicitudes por período</a:t>
            </a:r>
            <a:endParaRPr sz="1500">
              <a:latin typeface="Calibri"/>
              <a:ea typeface="Calibri"/>
              <a:cs typeface="Calibri"/>
              <a:sym typeface="Calibri"/>
            </a:endParaRPr>
          </a:p>
          <a:p>
            <a:pPr indent="-323850" lvl="0" marL="457200" rtl="0" algn="l">
              <a:spcBef>
                <a:spcPts val="0"/>
              </a:spcBef>
              <a:spcAft>
                <a:spcPts val="0"/>
              </a:spcAft>
              <a:buSzPts val="1500"/>
              <a:buFont typeface="Calibri"/>
              <a:buAutoNum type="arabicPeriod"/>
            </a:pPr>
            <a:r>
              <a:rPr lang="es-CL" sz="1500">
                <a:latin typeface="Calibri"/>
                <a:ea typeface="Calibri"/>
                <a:cs typeface="Calibri"/>
                <a:sym typeface="Calibri"/>
              </a:rPr>
              <a:t>Nivel de cumplimiento de plazos (SLA)</a:t>
            </a:r>
            <a:endParaRPr sz="1500">
              <a:latin typeface="Calibri"/>
              <a:ea typeface="Calibri"/>
              <a:cs typeface="Calibri"/>
              <a:sym typeface="Calibri"/>
            </a:endParaRPr>
          </a:p>
        </p:txBody>
      </p:sp>
      <p:pic>
        <p:nvPicPr>
          <p:cNvPr id="179" name="Google Shape;179;g3aa3fffeca4_1_108"/>
          <p:cNvPicPr preferRelativeResize="0"/>
          <p:nvPr/>
        </p:nvPicPr>
        <p:blipFill>
          <a:blip r:embed="rId3">
            <a:alphaModFix/>
          </a:blip>
          <a:stretch>
            <a:fillRect/>
          </a:stretch>
        </p:blipFill>
        <p:spPr>
          <a:xfrm>
            <a:off x="3333750" y="2804600"/>
            <a:ext cx="5524500" cy="2781300"/>
          </a:xfrm>
          <a:prstGeom prst="rect">
            <a:avLst/>
          </a:prstGeom>
          <a:noFill/>
          <a:ln>
            <a:noFill/>
          </a:ln>
        </p:spPr>
      </p:pic>
      <p:sp>
        <p:nvSpPr>
          <p:cNvPr id="180" name="Google Shape;180;g3aa3fffeca4_1_108"/>
          <p:cNvSpPr/>
          <p:nvPr/>
        </p:nvSpPr>
        <p:spPr>
          <a:xfrm>
            <a:off x="3179375" y="2895425"/>
            <a:ext cx="5679000" cy="2591400"/>
          </a:xfrm>
          <a:prstGeom prst="rect">
            <a:avLst/>
          </a:prstGeom>
          <a:noFill/>
          <a:ln cap="flat" cmpd="sng" w="9525">
            <a:solidFill>
              <a:srgbClr val="81888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ranklin Gothic"/>
              <a:ea typeface="Franklin Gothic"/>
              <a:cs typeface="Franklin Gothic"/>
              <a:sym typeface="Franklin Gothic"/>
            </a:endParaRPr>
          </a:p>
        </p:txBody>
      </p:sp>
      <p:sp>
        <p:nvSpPr>
          <p:cNvPr id="181" name="Google Shape;181;g3aa3fffeca4_1_108"/>
          <p:cNvSpPr txBox="1"/>
          <p:nvPr/>
        </p:nvSpPr>
        <p:spPr>
          <a:xfrm>
            <a:off x="3720125" y="596850"/>
            <a:ext cx="4255800" cy="6309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500">
                <a:solidFill>
                  <a:schemeClr val="dk1"/>
                </a:solidFill>
                <a:latin typeface="Calibri"/>
                <a:ea typeface="Calibri"/>
                <a:cs typeface="Calibri"/>
                <a:sym typeface="Calibri"/>
              </a:rPr>
              <a:t>KPI’S</a:t>
            </a:r>
            <a:endParaRPr sz="1700">
              <a:solidFill>
                <a:schemeClr val="dk1"/>
              </a:solidFill>
              <a:latin typeface="Calibri"/>
              <a:ea typeface="Calibri"/>
              <a:cs typeface="Calibri"/>
              <a:sym typeface="Calibri"/>
            </a:endParaRPr>
          </a:p>
        </p:txBody>
      </p:sp>
      <p:sp>
        <p:nvSpPr>
          <p:cNvPr id="182" name="Google Shape;182;g3aa3fffeca4_1_108"/>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1"/>
          <p:cNvSpPr txBox="1"/>
          <p:nvPr/>
        </p:nvSpPr>
        <p:spPr>
          <a:xfrm>
            <a:off x="-91250" y="435905"/>
            <a:ext cx="121920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3600">
                <a:solidFill>
                  <a:schemeClr val="dk1"/>
                </a:solidFill>
                <a:latin typeface="Calibri"/>
                <a:ea typeface="Calibri"/>
                <a:cs typeface="Calibri"/>
                <a:sym typeface="Calibri"/>
              </a:rPr>
              <a:t>Arquitectura  del software</a:t>
            </a:r>
            <a:endParaRPr/>
          </a:p>
        </p:txBody>
      </p:sp>
      <p:sp>
        <p:nvSpPr>
          <p:cNvPr id="188" name="Google Shape;188;p21"/>
          <p:cNvSpPr txBox="1"/>
          <p:nvPr/>
        </p:nvSpPr>
        <p:spPr>
          <a:xfrm>
            <a:off x="220950" y="1028925"/>
            <a:ext cx="7419900" cy="182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1500">
                <a:latin typeface="Calibri"/>
                <a:ea typeface="Calibri"/>
                <a:cs typeface="Calibri"/>
                <a:sym typeface="Calibri"/>
              </a:rPr>
              <a:t>Pros:</a:t>
            </a:r>
            <a:r>
              <a:rPr lang="es-CL" sz="1500">
                <a:solidFill>
                  <a:srgbClr val="818990"/>
                </a:solidFill>
                <a:latin typeface="Calibri"/>
                <a:ea typeface="Calibri"/>
                <a:cs typeface="Calibri"/>
                <a:sym typeface="Calibri"/>
              </a:rPr>
              <a:t> </a:t>
            </a:r>
            <a:endParaRPr sz="1500">
              <a:solidFill>
                <a:srgbClr val="818990"/>
              </a:solidFill>
              <a:latin typeface="Calibri"/>
              <a:ea typeface="Calibri"/>
              <a:cs typeface="Calibri"/>
              <a:sym typeface="Calibri"/>
            </a:endParaRPr>
          </a:p>
          <a:p>
            <a:pPr indent="-323850" lvl="0" marL="457200" rtl="0" algn="l">
              <a:spcBef>
                <a:spcPts val="0"/>
              </a:spcBef>
              <a:spcAft>
                <a:spcPts val="0"/>
              </a:spcAft>
              <a:buSzPts val="1500"/>
              <a:buChar char="●"/>
            </a:pPr>
            <a:r>
              <a:rPr b="1" lang="es-CL" sz="1500">
                <a:latin typeface="Calibri"/>
                <a:ea typeface="Calibri"/>
                <a:cs typeface="Calibri"/>
                <a:sym typeface="Calibri"/>
              </a:rPr>
              <a:t>Evitar uso indebido de insumos</a:t>
            </a:r>
            <a:r>
              <a:rPr lang="es-CL" sz="1500">
                <a:latin typeface="Calibri"/>
                <a:ea typeface="Calibri"/>
                <a:cs typeface="Calibri"/>
                <a:sym typeface="Calibri"/>
              </a:rPr>
              <a:t>: Solo se entregan insumos con autorización.</a:t>
            </a:r>
            <a:endParaRPr sz="1500">
              <a:latin typeface="Calibri"/>
              <a:ea typeface="Calibri"/>
              <a:cs typeface="Calibri"/>
              <a:sym typeface="Calibri"/>
            </a:endParaRPr>
          </a:p>
          <a:p>
            <a:pPr indent="-323850" lvl="0" marL="457200" rtl="0" algn="l">
              <a:spcBef>
                <a:spcPts val="0"/>
              </a:spcBef>
              <a:spcAft>
                <a:spcPts val="0"/>
              </a:spcAft>
              <a:buSzPts val="1500"/>
              <a:buChar char="●"/>
            </a:pPr>
            <a:r>
              <a:rPr b="1" lang="es-CL" sz="1500">
                <a:latin typeface="Calibri"/>
                <a:ea typeface="Calibri"/>
                <a:cs typeface="Calibri"/>
                <a:sym typeface="Calibri"/>
              </a:rPr>
              <a:t>Historial de decisiones</a:t>
            </a:r>
            <a:r>
              <a:rPr lang="es-CL" sz="1500">
                <a:latin typeface="Calibri"/>
                <a:ea typeface="Calibri"/>
                <a:cs typeface="Calibri"/>
                <a:sym typeface="Calibri"/>
              </a:rPr>
              <a:t>: Se registra quién aprueba, cuándo y por qué.</a:t>
            </a:r>
            <a:endParaRPr sz="1500">
              <a:latin typeface="Calibri"/>
              <a:ea typeface="Calibri"/>
              <a:cs typeface="Calibri"/>
              <a:sym typeface="Calibri"/>
            </a:endParaRPr>
          </a:p>
          <a:p>
            <a:pPr indent="-323850" lvl="0" marL="457200" rtl="0" algn="l">
              <a:spcBef>
                <a:spcPts val="0"/>
              </a:spcBef>
              <a:spcAft>
                <a:spcPts val="0"/>
              </a:spcAft>
              <a:buSzPts val="1500"/>
              <a:buChar char="●"/>
            </a:pPr>
            <a:r>
              <a:rPr b="1" lang="es-CL" sz="1500">
                <a:latin typeface="Calibri"/>
                <a:ea typeface="Calibri"/>
                <a:cs typeface="Calibri"/>
                <a:sym typeface="Calibri"/>
              </a:rPr>
              <a:t>Optimización de recursos</a:t>
            </a:r>
            <a:r>
              <a:rPr lang="es-CL" sz="1500">
                <a:latin typeface="Calibri"/>
                <a:ea typeface="Calibri"/>
                <a:cs typeface="Calibri"/>
                <a:sym typeface="Calibri"/>
              </a:rPr>
              <a:t>: Se priorizan solicitudes según urgencia o disponibilidad.</a:t>
            </a:r>
            <a:endParaRPr sz="1500">
              <a:latin typeface="Calibri"/>
              <a:ea typeface="Calibri"/>
              <a:cs typeface="Calibri"/>
              <a:sym typeface="Calibri"/>
            </a:endParaRPr>
          </a:p>
          <a:p>
            <a:pPr indent="-323850" lvl="0" marL="457200" rtl="0" algn="l">
              <a:spcBef>
                <a:spcPts val="0"/>
              </a:spcBef>
              <a:spcAft>
                <a:spcPts val="0"/>
              </a:spcAft>
              <a:buSzPts val="1500"/>
              <a:buChar char="●"/>
            </a:pPr>
            <a:r>
              <a:rPr b="1" lang="es-CL" sz="1500">
                <a:latin typeface="Calibri"/>
                <a:ea typeface="Calibri"/>
                <a:cs typeface="Calibri"/>
                <a:sym typeface="Calibri"/>
              </a:rPr>
              <a:t>Reducción de desperdicio</a:t>
            </a:r>
            <a:r>
              <a:rPr lang="es-CL" sz="1500">
                <a:latin typeface="Calibri"/>
                <a:ea typeface="Calibri"/>
                <a:cs typeface="Calibri"/>
                <a:sym typeface="Calibri"/>
              </a:rPr>
              <a:t>: Se entrega lo justo y necesario.</a:t>
            </a:r>
            <a:endParaRPr sz="1500">
              <a:latin typeface="Calibri"/>
              <a:ea typeface="Calibri"/>
              <a:cs typeface="Calibri"/>
              <a:sym typeface="Calibri"/>
            </a:endParaRPr>
          </a:p>
          <a:p>
            <a:pPr indent="0" lvl="0" marL="0" rtl="0" algn="l">
              <a:spcBef>
                <a:spcPts val="0"/>
              </a:spcBef>
              <a:spcAft>
                <a:spcPts val="0"/>
              </a:spcAft>
              <a:buNone/>
            </a:pPr>
            <a:r>
              <a:t/>
            </a:r>
            <a:endParaRPr sz="1500">
              <a:latin typeface="Calibri"/>
              <a:ea typeface="Calibri"/>
              <a:cs typeface="Calibri"/>
              <a:sym typeface="Calibri"/>
            </a:endParaRPr>
          </a:p>
          <a:p>
            <a:pPr indent="0" lvl="0" marL="0" rtl="0" algn="l">
              <a:spcBef>
                <a:spcPts val="0"/>
              </a:spcBef>
              <a:spcAft>
                <a:spcPts val="0"/>
              </a:spcAft>
              <a:buNone/>
            </a:pPr>
            <a:r>
              <a:t/>
            </a:r>
            <a:endParaRPr sz="1500">
              <a:latin typeface="Calibri"/>
              <a:ea typeface="Calibri"/>
              <a:cs typeface="Calibri"/>
              <a:sym typeface="Calibri"/>
            </a:endParaRPr>
          </a:p>
          <a:p>
            <a:pPr indent="0" lvl="0" marL="0" rtl="0" algn="l">
              <a:spcBef>
                <a:spcPts val="0"/>
              </a:spcBef>
              <a:spcAft>
                <a:spcPts val="0"/>
              </a:spcAft>
              <a:buNone/>
            </a:pPr>
            <a:r>
              <a:t/>
            </a:r>
            <a:endParaRPr sz="1500">
              <a:solidFill>
                <a:srgbClr val="818990"/>
              </a:solidFill>
              <a:latin typeface="Calibri"/>
              <a:ea typeface="Calibri"/>
              <a:cs typeface="Calibri"/>
              <a:sym typeface="Calibri"/>
            </a:endParaRPr>
          </a:p>
        </p:txBody>
      </p:sp>
      <p:sp>
        <p:nvSpPr>
          <p:cNvPr id="189" name="Google Shape;189;p21"/>
          <p:cNvSpPr txBox="1"/>
          <p:nvPr/>
        </p:nvSpPr>
        <p:spPr>
          <a:xfrm>
            <a:off x="7404538" y="1142025"/>
            <a:ext cx="4567200" cy="14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CL" sz="1500">
                <a:latin typeface="Calibri"/>
                <a:ea typeface="Calibri"/>
                <a:cs typeface="Calibri"/>
                <a:sym typeface="Calibri"/>
              </a:rPr>
              <a:t>Contras:</a:t>
            </a:r>
            <a:endParaRPr b="1" sz="1500">
              <a:latin typeface="Calibri"/>
              <a:ea typeface="Calibri"/>
              <a:cs typeface="Calibri"/>
              <a:sym typeface="Calibri"/>
            </a:endParaRPr>
          </a:p>
          <a:p>
            <a:pPr indent="-323850" lvl="0" marL="457200" rtl="0" algn="l">
              <a:spcBef>
                <a:spcPts val="0"/>
              </a:spcBef>
              <a:spcAft>
                <a:spcPts val="0"/>
              </a:spcAft>
              <a:buSzPts val="1500"/>
              <a:buChar char="●"/>
            </a:pPr>
            <a:r>
              <a:rPr b="1" lang="es-CL" sz="1500">
                <a:latin typeface="Calibri"/>
                <a:ea typeface="Calibri"/>
                <a:cs typeface="Calibri"/>
                <a:sym typeface="Calibri"/>
              </a:rPr>
              <a:t>Falta de cultura de control</a:t>
            </a:r>
            <a:r>
              <a:rPr lang="es-CL" sz="1500">
                <a:latin typeface="Calibri"/>
                <a:ea typeface="Calibri"/>
                <a:cs typeface="Calibri"/>
                <a:sym typeface="Calibri"/>
              </a:rPr>
              <a:t>: puede haber resistencia o incumplimiento.</a:t>
            </a:r>
            <a:endParaRPr sz="1500">
              <a:latin typeface="Calibri"/>
              <a:ea typeface="Calibri"/>
              <a:cs typeface="Calibri"/>
              <a:sym typeface="Calibri"/>
            </a:endParaRPr>
          </a:p>
          <a:p>
            <a:pPr indent="-323850" lvl="0" marL="457200" rtl="0" algn="l">
              <a:spcBef>
                <a:spcPts val="0"/>
              </a:spcBef>
              <a:spcAft>
                <a:spcPts val="0"/>
              </a:spcAft>
              <a:buSzPts val="1500"/>
              <a:buChar char="●"/>
            </a:pPr>
            <a:r>
              <a:rPr b="1" lang="es-CL" sz="1500">
                <a:latin typeface="Calibri"/>
                <a:ea typeface="Calibri"/>
                <a:cs typeface="Calibri"/>
                <a:sym typeface="Calibri"/>
              </a:rPr>
              <a:t>Desalineación entre áreas</a:t>
            </a:r>
            <a:r>
              <a:rPr lang="es-CL" sz="1500">
                <a:latin typeface="Calibri"/>
                <a:ea typeface="Calibri"/>
                <a:cs typeface="Calibri"/>
                <a:sym typeface="Calibri"/>
              </a:rPr>
              <a:t>: Pueden tener criterios distintos sobre qué aprobar y cuándo.</a:t>
            </a:r>
            <a:endParaRPr sz="1500">
              <a:latin typeface="Calibri"/>
              <a:ea typeface="Calibri"/>
              <a:cs typeface="Calibri"/>
              <a:sym typeface="Calibri"/>
            </a:endParaRPr>
          </a:p>
          <a:p>
            <a:pPr indent="0" lvl="0" marL="0" rtl="0" algn="l">
              <a:spcBef>
                <a:spcPts val="0"/>
              </a:spcBef>
              <a:spcAft>
                <a:spcPts val="0"/>
              </a:spcAft>
              <a:buNone/>
            </a:pPr>
            <a:r>
              <a:t/>
            </a:r>
            <a:endParaRPr sz="1500">
              <a:solidFill>
                <a:srgbClr val="818990"/>
              </a:solidFill>
              <a:latin typeface="Calibri"/>
              <a:ea typeface="Calibri"/>
              <a:cs typeface="Calibri"/>
              <a:sym typeface="Calibri"/>
            </a:endParaRPr>
          </a:p>
        </p:txBody>
      </p:sp>
      <p:sp>
        <p:nvSpPr>
          <p:cNvPr id="190" name="Google Shape;190;p21"/>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pic>
        <p:nvPicPr>
          <p:cNvPr id="191" name="Google Shape;191;p21" title="Diagrama en blanco(3).png"/>
          <p:cNvPicPr preferRelativeResize="0"/>
          <p:nvPr/>
        </p:nvPicPr>
        <p:blipFill>
          <a:blip r:embed="rId3">
            <a:alphaModFix/>
          </a:blip>
          <a:stretch>
            <a:fillRect/>
          </a:stretch>
        </p:blipFill>
        <p:spPr>
          <a:xfrm>
            <a:off x="995027" y="2577225"/>
            <a:ext cx="10019451" cy="4187826"/>
          </a:xfrm>
          <a:prstGeom prst="rect">
            <a:avLst/>
          </a:prstGeom>
          <a:noFill/>
          <a:ln>
            <a:noFill/>
          </a:ln>
        </p:spPr>
      </p:pic>
    </p:spTree>
  </p:cSld>
  <p:clrMapOvr>
    <a:masterClrMapping/>
  </p:clrMapOvr>
  <p:transition spd="slow">
    <p:wipe dir="l"/>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2"/>
          <p:cNvSpPr txBox="1"/>
          <p:nvPr/>
        </p:nvSpPr>
        <p:spPr>
          <a:xfrm>
            <a:off x="196551" y="1991817"/>
            <a:ext cx="12192000" cy="1139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DEMOSTRACIÓN DEL RESULTADO DEL PROYECTO</a:t>
            </a:r>
            <a:endParaRPr/>
          </a:p>
          <a:p>
            <a:pPr indent="0" lvl="0" marL="0" marR="0" rtl="0" algn="ctr">
              <a:spcBef>
                <a:spcPts val="0"/>
              </a:spcBef>
              <a:spcAft>
                <a:spcPts val="0"/>
              </a:spcAft>
              <a:buNone/>
            </a:pPr>
            <a:r>
              <a:t/>
            </a:r>
            <a:endParaRPr sz="2400">
              <a:solidFill>
                <a:srgbClr val="757070"/>
              </a:solidFill>
              <a:latin typeface="Calibri"/>
              <a:ea typeface="Calibri"/>
              <a:cs typeface="Calibri"/>
              <a:sym typeface="Calibri"/>
            </a:endParaRPr>
          </a:p>
        </p:txBody>
      </p:sp>
      <p:sp>
        <p:nvSpPr>
          <p:cNvPr id="197" name="Google Shape;197;p12"/>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pic>
        <p:nvPicPr>
          <p:cNvPr id="198" name="Google Shape;198;p12" title="Captura de pantalla 2025-11-17 151012.png"/>
          <p:cNvPicPr preferRelativeResize="0"/>
          <p:nvPr/>
        </p:nvPicPr>
        <p:blipFill>
          <a:blip r:embed="rId3">
            <a:alphaModFix/>
          </a:blip>
          <a:stretch>
            <a:fillRect/>
          </a:stretch>
        </p:blipFill>
        <p:spPr>
          <a:xfrm>
            <a:off x="3123900" y="2912705"/>
            <a:ext cx="5944200" cy="2846400"/>
          </a:xfrm>
          <a:prstGeom prst="roundRect">
            <a:avLst>
              <a:gd fmla="val 16667" name="adj"/>
            </a:avLst>
          </a:prstGeom>
          <a:noFill/>
          <a:ln>
            <a:noFill/>
          </a:ln>
        </p:spPr>
      </p:pic>
    </p:spTree>
  </p:cSld>
  <p:clrMapOvr>
    <a:masterClrMapping/>
  </p:clrMapOvr>
  <p:transition spd="slow">
    <p:wipe dir="l"/>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3"/>
          <p:cNvSpPr txBox="1"/>
          <p:nvPr/>
        </p:nvSpPr>
        <p:spPr>
          <a:xfrm>
            <a:off x="-35099" y="869470"/>
            <a:ext cx="121920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a:p>
        </p:txBody>
      </p:sp>
      <p:sp>
        <p:nvSpPr>
          <p:cNvPr id="204" name="Google Shape;204;p13"/>
          <p:cNvSpPr txBox="1"/>
          <p:nvPr/>
        </p:nvSpPr>
        <p:spPr>
          <a:xfrm>
            <a:off x="512400" y="1915475"/>
            <a:ext cx="10701300" cy="3420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s-CL" sz="1500">
                <a:latin typeface="Calibri"/>
                <a:ea typeface="Calibri"/>
                <a:cs typeface="Calibri"/>
                <a:sym typeface="Calibri"/>
              </a:rPr>
              <a:t>El desarrollo del proyecto permitió responder de manera efectiva al problema planteado en Implementos Epysa S.A., evidenciando que la gestión manual de insumos genera ineficiencias críticas, tal como lo han reportado estudios previos en el ámbito de inventarios. Con la implementación de la plataforma web, se lograron resultados alineados con los objetivos establecidos:</a:t>
            </a:r>
            <a:endParaRPr sz="1500">
              <a:latin typeface="Calibri"/>
              <a:ea typeface="Calibri"/>
              <a:cs typeface="Calibri"/>
              <a:sym typeface="Calibri"/>
            </a:endParaRPr>
          </a:p>
          <a:p>
            <a:pPr indent="-228600" lvl="0" marL="457200" rtl="0" algn="just">
              <a:lnSpc>
                <a:spcPct val="115000"/>
              </a:lnSpc>
              <a:spcBef>
                <a:spcPts val="1200"/>
              </a:spcBef>
              <a:spcAft>
                <a:spcPts val="0"/>
              </a:spcAft>
              <a:buNone/>
            </a:pPr>
            <a:r>
              <a:rPr lang="es-CL" sz="1500">
                <a:latin typeface="Calibri"/>
                <a:ea typeface="Calibri"/>
                <a:cs typeface="Calibri"/>
                <a:sym typeface="Calibri"/>
              </a:rPr>
              <a:t>● 	Automatización de solicitudes: se construyó una interfaz web responsiva que centraliza y estandariza el ingreso de requerimientos, reduciendo errores y duplicidad de datos.</a:t>
            </a:r>
            <a:endParaRPr sz="1500">
              <a:latin typeface="Calibri"/>
              <a:ea typeface="Calibri"/>
              <a:cs typeface="Calibri"/>
              <a:sym typeface="Calibri"/>
            </a:endParaRPr>
          </a:p>
          <a:p>
            <a:pPr indent="-228600" lvl="0" marL="457200" rtl="0" algn="just">
              <a:lnSpc>
                <a:spcPct val="115000"/>
              </a:lnSpc>
              <a:spcBef>
                <a:spcPts val="1200"/>
              </a:spcBef>
              <a:spcAft>
                <a:spcPts val="0"/>
              </a:spcAft>
              <a:buNone/>
            </a:pPr>
            <a:r>
              <a:rPr lang="es-CL" sz="1500">
                <a:latin typeface="Calibri"/>
                <a:ea typeface="Calibri"/>
                <a:cs typeface="Calibri"/>
                <a:sym typeface="Calibri"/>
              </a:rPr>
              <a:t>● 	Priorización automática: el sistema incorporó reglas configurables que agilizan la atención de solicitudes críticas, optimizando los tiempos de respuesta.</a:t>
            </a:r>
            <a:endParaRPr sz="1500">
              <a:latin typeface="Calibri"/>
              <a:ea typeface="Calibri"/>
              <a:cs typeface="Calibri"/>
              <a:sym typeface="Calibri"/>
            </a:endParaRPr>
          </a:p>
          <a:p>
            <a:pPr indent="-228600" lvl="0" marL="457200" rtl="0" algn="just">
              <a:lnSpc>
                <a:spcPct val="115000"/>
              </a:lnSpc>
              <a:spcBef>
                <a:spcPts val="1200"/>
              </a:spcBef>
              <a:spcAft>
                <a:spcPts val="0"/>
              </a:spcAft>
              <a:buNone/>
            </a:pPr>
            <a:r>
              <a:rPr lang="es-CL" sz="1500">
                <a:latin typeface="Calibri"/>
                <a:ea typeface="Calibri"/>
                <a:cs typeface="Calibri"/>
                <a:sym typeface="Calibri"/>
              </a:rPr>
              <a:t>● 	Generación de reportes estratégicos: la plataforma incluye paneles que entregan información relevante para la planificación y la toma de decisiones.</a:t>
            </a:r>
            <a:endParaRPr sz="1500">
              <a:latin typeface="Calibri"/>
              <a:ea typeface="Calibri"/>
              <a:cs typeface="Calibri"/>
              <a:sym typeface="Calibri"/>
            </a:endParaRPr>
          </a:p>
          <a:p>
            <a:pPr indent="-228600" lvl="0" marL="457200" rtl="0" algn="just">
              <a:lnSpc>
                <a:spcPct val="115000"/>
              </a:lnSpc>
              <a:spcBef>
                <a:spcPts val="1200"/>
              </a:spcBef>
              <a:spcAft>
                <a:spcPts val="1200"/>
              </a:spcAft>
              <a:buNone/>
            </a:pPr>
            <a:r>
              <a:rPr lang="es-CL" sz="1500">
                <a:latin typeface="Calibri"/>
                <a:ea typeface="Calibri"/>
                <a:cs typeface="Calibri"/>
                <a:sym typeface="Calibri"/>
              </a:rPr>
              <a:t>● 	Notificaciones y alertas: se integraron mecanismos de comunicación interna que aumentan la trazabilidad del proceso.</a:t>
            </a:r>
            <a:endParaRPr sz="1500">
              <a:latin typeface="Calibri"/>
              <a:ea typeface="Calibri"/>
              <a:cs typeface="Calibri"/>
              <a:sym typeface="Calibri"/>
            </a:endParaRPr>
          </a:p>
        </p:txBody>
      </p:sp>
      <p:sp>
        <p:nvSpPr>
          <p:cNvPr id="205" name="Google Shape;205;p13"/>
          <p:cNvSpPr txBox="1"/>
          <p:nvPr/>
        </p:nvSpPr>
        <p:spPr>
          <a:xfrm>
            <a:off x="2167625" y="596850"/>
            <a:ext cx="7458000" cy="6309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Font typeface="Arial"/>
              <a:buNone/>
            </a:pPr>
            <a:r>
              <a:rPr lang="es-CL" sz="3500">
                <a:solidFill>
                  <a:schemeClr val="dk1"/>
                </a:solidFill>
                <a:latin typeface="Calibri"/>
                <a:ea typeface="Calibri"/>
                <a:cs typeface="Calibri"/>
                <a:sym typeface="Calibri"/>
              </a:rPr>
              <a:t>Conclusiones</a:t>
            </a:r>
            <a:endParaRPr sz="3500">
              <a:solidFill>
                <a:schemeClr val="dk1"/>
              </a:solidFill>
              <a:latin typeface="Calibri"/>
              <a:ea typeface="Calibri"/>
              <a:cs typeface="Calibri"/>
              <a:sym typeface="Calibri"/>
            </a:endParaRPr>
          </a:p>
        </p:txBody>
      </p:sp>
      <p:sp>
        <p:nvSpPr>
          <p:cNvPr id="206" name="Google Shape;206;p13"/>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spTree>
  </p:cSld>
  <p:clrMapOvr>
    <a:masterClrMapping/>
  </p:clrMapOvr>
  <p:transition spd="slow">
    <p:wipe dir="l"/>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5"/>
          <p:cNvSpPr txBox="1"/>
          <p:nvPr/>
        </p:nvSpPr>
        <p:spPr>
          <a:xfrm>
            <a:off x="0" y="3044279"/>
            <a:ext cx="12191999"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PREGUNTAS DE LA COMISIÓN</a:t>
            </a:r>
            <a:endParaRPr/>
          </a:p>
        </p:txBody>
      </p:sp>
      <p:sp>
        <p:nvSpPr>
          <p:cNvPr id="212" name="Google Shape;212;p15"/>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spTree>
  </p:cSld>
  <p:clrMapOvr>
    <a:masterClrMapping/>
  </p:clrMapOvr>
  <p:transition spd="slow">
    <p:wipe dir="l"/>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g3aac5b913e3_0_0"/>
          <p:cNvSpPr txBox="1"/>
          <p:nvPr/>
        </p:nvSpPr>
        <p:spPr>
          <a:xfrm>
            <a:off x="0" y="3044279"/>
            <a:ext cx="121920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CL" sz="4400">
                <a:solidFill>
                  <a:schemeClr val="dk1"/>
                </a:solidFill>
                <a:latin typeface="Calibri"/>
                <a:ea typeface="Calibri"/>
                <a:cs typeface="Calibri"/>
                <a:sym typeface="Calibri"/>
              </a:rPr>
              <a:t>MUCHAS GRACIAS POR SU ATENCIÓN!</a:t>
            </a:r>
            <a:endParaRPr/>
          </a:p>
        </p:txBody>
      </p:sp>
      <p:sp>
        <p:nvSpPr>
          <p:cNvPr id="218" name="Google Shape;218;g3aac5b913e3_0_0"/>
          <p:cNvSpPr txBox="1"/>
          <p:nvPr>
            <p:ph idx="11" type="ftr"/>
          </p:nvPr>
        </p:nvSpPr>
        <p:spPr>
          <a:xfrm>
            <a:off x="3790627" y="170482"/>
            <a:ext cx="4114800" cy="30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s-CL"/>
              <a:t>“Plataforma para la automatización de solicitudes de insumos tecnológicos”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2023-10-28T21:12:11Z</dcterms:created>
  <dc:creator>Gerardo Galan Cruz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0x01010015ED6F46882F47419E8EA90B7B52D56C</vt:lpwstr>
  </property>
  <property fmtid="{D5CDD505-2E9C-101B-9397-08002B2CF9AE}" pid="3" name="MediaServiceImageTags">
    <vt:lpwstr/>
  </property>
</Properties>
</file>