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Franklin Gothic"/>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MjN5oBKFWycZeiOTrD4CoSrpA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FranklinGothic-bold.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CL"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Clr>
                <a:srgbClr val="DE3075"/>
              </a:buClr>
              <a:buSzPts val="2800"/>
              <a:buFont typeface="Franklin Gothic"/>
              <a:buNone/>
            </a:pPr>
            <a:r>
              <a:rPr lang="es-CL">
                <a:solidFill>
                  <a:srgbClr val="002060"/>
                </a:solidFill>
              </a:rPr>
              <a:t>Descripción breve de la temática a tratar. </a:t>
            </a:r>
            <a:endParaRPr/>
          </a:p>
          <a:p>
            <a:pPr indent="0" lvl="0" marL="0" rtl="0" algn="l">
              <a:lnSpc>
                <a:spcPct val="90000"/>
              </a:lnSpc>
              <a:spcBef>
                <a:spcPts val="1000"/>
              </a:spcBef>
              <a:spcAft>
                <a:spcPts val="0"/>
              </a:spcAft>
              <a:buClr>
                <a:srgbClr val="DE3075"/>
              </a:buClr>
              <a:buSzPts val="2800"/>
              <a:buFont typeface="Franklin Gothic"/>
              <a:buNone/>
            </a:pPr>
            <a:r>
              <a:rPr lang="es-CL">
                <a:solidFill>
                  <a:srgbClr val="002060"/>
                </a:solidFill>
              </a:rPr>
              <a:t>Debe comprender, en forma simple: </a:t>
            </a:r>
            <a:endParaRPr/>
          </a:p>
          <a:p>
            <a:pPr indent="-241300" lvl="0" marL="342900" rtl="0" algn="l">
              <a:lnSpc>
                <a:spcPct val="90000"/>
              </a:lnSpc>
              <a:spcBef>
                <a:spcPts val="1000"/>
              </a:spcBef>
              <a:spcAft>
                <a:spcPts val="0"/>
              </a:spcAft>
              <a:buClr>
                <a:srgbClr val="DE3075"/>
              </a:buClr>
              <a:buSzPts val="1200"/>
              <a:buFont typeface="Franklin Gothic"/>
              <a:buChar char="-"/>
            </a:pPr>
            <a:r>
              <a:rPr lang="es-CL">
                <a:solidFill>
                  <a:srgbClr val="002060"/>
                </a:solidFill>
              </a:rPr>
              <a:t>resumen de lo que se aborda y por qué es importante de resolver.</a:t>
            </a:r>
            <a:endParaRPr/>
          </a:p>
          <a:p>
            <a:pPr indent="-241300" lvl="0" marL="342900" rtl="0" algn="l">
              <a:lnSpc>
                <a:spcPct val="90000"/>
              </a:lnSpc>
              <a:spcBef>
                <a:spcPts val="1000"/>
              </a:spcBef>
              <a:spcAft>
                <a:spcPts val="0"/>
              </a:spcAft>
              <a:buClr>
                <a:srgbClr val="DE3075"/>
              </a:buClr>
              <a:buSzPts val="1200"/>
              <a:buFont typeface="Franklin Gothic"/>
              <a:buChar char="-"/>
            </a:pPr>
            <a:r>
              <a:rPr lang="es-CL">
                <a:solidFill>
                  <a:srgbClr val="002060"/>
                </a:solidFill>
              </a:rPr>
              <a:t>Resumen de la solución</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52400" lvl="0" marL="228600" rtl="0" algn="l">
              <a:lnSpc>
                <a:spcPct val="90000"/>
              </a:lnSpc>
              <a:spcBef>
                <a:spcPts val="0"/>
              </a:spcBef>
              <a:spcAft>
                <a:spcPts val="0"/>
              </a:spcAft>
              <a:buClr>
                <a:srgbClr val="002060"/>
              </a:buClr>
              <a:buSzPts val="1200"/>
              <a:buChar char="•"/>
            </a:pPr>
            <a:r>
              <a:rPr lang="es-CL">
                <a:solidFill>
                  <a:srgbClr val="002060"/>
                </a:solidFill>
              </a:rPr>
              <a:t>Se define el entorno del proyecto en que se desarrolla el proyecto y el problema que resolverá . </a:t>
            </a:r>
            <a:endParaRPr>
              <a:latin typeface="Calibri"/>
              <a:ea typeface="Calibri"/>
              <a:cs typeface="Calibri"/>
              <a:sym typeface="Calibri"/>
            </a:endParaRPr>
          </a:p>
          <a:p>
            <a:pPr indent="-152400" lvl="0" marL="228600" rtl="0" algn="l">
              <a:lnSpc>
                <a:spcPct val="90000"/>
              </a:lnSpc>
              <a:spcBef>
                <a:spcPts val="1000"/>
              </a:spcBef>
              <a:spcAft>
                <a:spcPts val="0"/>
              </a:spcAft>
              <a:buClr>
                <a:srgbClr val="002060"/>
              </a:buClr>
              <a:buSzPts val="1200"/>
              <a:buChar char="•"/>
            </a:pPr>
            <a:r>
              <a:rPr lang="es-CL">
                <a:solidFill>
                  <a:srgbClr val="002060"/>
                </a:solidFill>
              </a:rPr>
              <a:t>el problema o necesidad</a:t>
            </a:r>
            <a:endParaRPr>
              <a:solidFill>
                <a:srgbClr val="002060"/>
              </a:solidFill>
            </a:endParaRPr>
          </a:p>
          <a:p>
            <a:pPr indent="-152400" lvl="0" marL="228600" rtl="0" algn="l">
              <a:lnSpc>
                <a:spcPct val="90000"/>
              </a:lnSpc>
              <a:spcBef>
                <a:spcPts val="1000"/>
              </a:spcBef>
              <a:spcAft>
                <a:spcPts val="0"/>
              </a:spcAft>
              <a:buClr>
                <a:srgbClr val="002060"/>
              </a:buClr>
              <a:buSzPts val="1200"/>
              <a:buChar char="•"/>
            </a:pPr>
            <a:r>
              <a:rPr lang="es-CL">
                <a:solidFill>
                  <a:srgbClr val="002060"/>
                </a:solidFill>
              </a:rPr>
              <a:t>Es conveniente hilar con la introducción. </a:t>
            </a:r>
            <a:endParaRPr>
              <a:latin typeface="Calibri"/>
              <a:ea typeface="Calibri"/>
              <a:cs typeface="Calibri"/>
              <a:sym typeface="Calibri"/>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05" name="Google Shape;10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s-CL"/>
              <a:t>Objetivos del proyecto</a:t>
            </a:r>
            <a:endParaRPr/>
          </a:p>
          <a:p>
            <a:pPr indent="0" lvl="0" marL="0" rtl="0" algn="l">
              <a:lnSpc>
                <a:spcPct val="100000"/>
              </a:lnSpc>
              <a:spcBef>
                <a:spcPts val="0"/>
              </a:spcBef>
              <a:spcAft>
                <a:spcPts val="0"/>
              </a:spcAft>
              <a:buSzPts val="1400"/>
              <a:buNone/>
            </a:pPr>
            <a:r>
              <a:rPr lang="es-CL"/>
              <a:t>Escribir el Objetivo general</a:t>
            </a:r>
            <a:endParaRPr/>
          </a:p>
          <a:p>
            <a:pPr indent="0" lvl="0" marL="0" rtl="0" algn="l">
              <a:lnSpc>
                <a:spcPct val="100000"/>
              </a:lnSpc>
              <a:spcBef>
                <a:spcPts val="0"/>
              </a:spcBef>
              <a:spcAft>
                <a:spcPts val="0"/>
              </a:spcAft>
              <a:buSzPts val="1400"/>
              <a:buNone/>
            </a:pPr>
            <a:r>
              <a:rPr lang="es-CL"/>
              <a:t>Listar objetivos específicos</a:t>
            </a:r>
            <a:endParaRPr/>
          </a:p>
          <a:p>
            <a:pPr indent="0" lvl="0" marL="0" rtl="0" algn="l">
              <a:lnSpc>
                <a:spcPct val="100000"/>
              </a:lnSpc>
              <a:spcBef>
                <a:spcPts val="0"/>
              </a:spcBef>
              <a:spcAft>
                <a:spcPts val="0"/>
              </a:spcAft>
              <a:buSzPts val="1400"/>
              <a:buNone/>
            </a:pPr>
            <a:r>
              <a:t/>
            </a:r>
            <a:endParaRPr/>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Font typeface="Calibri"/>
              <a:buNone/>
            </a:pPr>
            <a:r>
              <a:rPr lang="es-CL" sz="1800">
                <a:latin typeface="Calibri"/>
                <a:ea typeface="Calibri"/>
                <a:cs typeface="Calibri"/>
                <a:sym typeface="Calibri"/>
              </a:rPr>
              <a:t>METODOLOGÍA  DE DESARROLLO</a:t>
            </a:r>
            <a:endParaRPr sz="1400"/>
          </a:p>
          <a:p>
            <a:pPr indent="0" lvl="0" marL="0" rtl="0" algn="l">
              <a:lnSpc>
                <a:spcPct val="100000"/>
              </a:lnSpc>
              <a:spcBef>
                <a:spcPts val="0"/>
              </a:spcBef>
              <a:spcAft>
                <a:spcPts val="0"/>
              </a:spcAft>
              <a:buClr>
                <a:schemeClr val="dk1"/>
              </a:buClr>
              <a:buSzPts val="1800"/>
              <a:buFont typeface="Calibri"/>
              <a:buNone/>
            </a:pPr>
            <a:r>
              <a:rPr lang="es-CL" sz="1800">
                <a:latin typeface="Calibri"/>
                <a:ea typeface="Calibri"/>
                <a:cs typeface="Calibri"/>
                <a:sym typeface="Calibri"/>
              </a:rPr>
              <a:t>Describir la metodología utilizada y su relación con el proyecto.</a:t>
            </a:r>
            <a:endParaRPr sz="1400"/>
          </a:p>
          <a:p>
            <a:pPr indent="0" lvl="0" marL="0" rtl="0" algn="l">
              <a:lnSpc>
                <a:spcPct val="100000"/>
              </a:lnSpc>
              <a:spcBef>
                <a:spcPts val="0"/>
              </a:spcBef>
              <a:spcAft>
                <a:spcPts val="0"/>
              </a:spcAft>
              <a:buSzPts val="1400"/>
              <a:buNone/>
            </a:pPr>
            <a:r>
              <a:rPr lang="es-CL" sz="1800">
                <a:latin typeface="Calibri"/>
                <a:ea typeface="Calibri"/>
                <a:cs typeface="Calibri"/>
                <a:sym typeface="Calibri"/>
              </a:rPr>
              <a:t>Puede ser más de una diapositiva.</a:t>
            </a:r>
            <a:endParaRPr sz="1800">
              <a:latin typeface="Calibri"/>
              <a:ea typeface="Calibri"/>
              <a:cs typeface="Calibri"/>
              <a:sym typeface="Calibri"/>
            </a:endParaRPr>
          </a:p>
          <a:p>
            <a:pPr indent="0" lvl="0" marL="0" rtl="0" algn="l">
              <a:lnSpc>
                <a:spcPct val="100000"/>
              </a:lnSpc>
              <a:spcBef>
                <a:spcPts val="0"/>
              </a:spcBef>
              <a:spcAft>
                <a:spcPts val="0"/>
              </a:spcAft>
              <a:buClr>
                <a:schemeClr val="dk1"/>
              </a:buClr>
              <a:buSzPts val="1800"/>
              <a:buFont typeface="Calibri"/>
              <a:buNone/>
            </a:pPr>
            <a:r>
              <a:t/>
            </a:r>
            <a:endParaRPr sz="1800">
              <a:latin typeface="Calibri"/>
              <a:ea typeface="Calibri"/>
              <a:cs typeface="Calibri"/>
              <a:sym typeface="Calibri"/>
            </a:endParaRPr>
          </a:p>
          <a:p>
            <a:pPr indent="0" lvl="0" marL="0" rtl="0" algn="l">
              <a:lnSpc>
                <a:spcPct val="100000"/>
              </a:lnSpc>
              <a:spcBef>
                <a:spcPts val="0"/>
              </a:spcBef>
              <a:spcAft>
                <a:spcPts val="0"/>
              </a:spcAft>
              <a:buClr>
                <a:schemeClr val="dk1"/>
              </a:buClr>
              <a:buSzPts val="1400"/>
              <a:buFont typeface="Arial"/>
              <a:buNone/>
            </a:pPr>
            <a:r>
              <a:rPr lang="es-CL" sz="1800">
                <a:latin typeface="Calibri"/>
                <a:ea typeface="Calibri"/>
                <a:cs typeface="Calibri"/>
                <a:sym typeface="Calibri"/>
              </a:rPr>
              <a:t>Nombre de estudiante</a:t>
            </a:r>
            <a:endParaRPr sz="1800">
              <a:latin typeface="Calibri"/>
              <a:ea typeface="Calibri"/>
              <a:cs typeface="Calibri"/>
              <a:sym typeface="Calibri"/>
            </a:endParaRPr>
          </a:p>
          <a:p>
            <a:pPr indent="0" lvl="0" marL="0" rtl="0" algn="l">
              <a:lnSpc>
                <a:spcPct val="100000"/>
              </a:lnSpc>
              <a:spcBef>
                <a:spcPts val="0"/>
              </a:spcBef>
              <a:spcAft>
                <a:spcPts val="0"/>
              </a:spcAft>
              <a:buClr>
                <a:schemeClr val="dk1"/>
              </a:buClr>
              <a:buSzPts val="1400"/>
              <a:buFont typeface="Arial"/>
              <a:buNone/>
            </a:pPr>
            <a:r>
              <a:rPr lang="es-CL" sz="1800">
                <a:latin typeface="Calibri"/>
                <a:ea typeface="Calibri"/>
                <a:cs typeface="Calibri"/>
                <a:sym typeface="Calibri"/>
              </a:rPr>
              <a:t>Cargo y Funciones desempeñadas</a:t>
            </a:r>
            <a:endParaRPr sz="1800">
              <a:latin typeface="Calibri"/>
              <a:ea typeface="Calibri"/>
              <a:cs typeface="Calibri"/>
              <a:sym typeface="Calibri"/>
            </a:endParaRPr>
          </a:p>
          <a:p>
            <a:pPr indent="0" lvl="0" marL="0" rtl="0" algn="l">
              <a:lnSpc>
                <a:spcPct val="100000"/>
              </a:lnSpc>
              <a:spcBef>
                <a:spcPts val="0"/>
              </a:spcBef>
              <a:spcAft>
                <a:spcPts val="0"/>
              </a:spcAft>
              <a:buClr>
                <a:schemeClr val="dk1"/>
              </a:buClr>
              <a:buSzPts val="1400"/>
              <a:buFont typeface="Arial"/>
              <a:buNone/>
            </a:pPr>
            <a:r>
              <a:t/>
            </a:r>
            <a:endParaRPr sz="1800">
              <a:latin typeface="Calibri"/>
              <a:ea typeface="Calibri"/>
              <a:cs typeface="Calibri"/>
              <a:sym typeface="Calibri"/>
            </a:endParaRPr>
          </a:p>
          <a:p>
            <a:pPr indent="0" lvl="0" marL="0" rtl="0" algn="l">
              <a:lnSpc>
                <a:spcPct val="100000"/>
              </a:lnSpc>
              <a:spcBef>
                <a:spcPts val="0"/>
              </a:spcBef>
              <a:spcAft>
                <a:spcPts val="0"/>
              </a:spcAft>
              <a:buClr>
                <a:schemeClr val="dk1"/>
              </a:buClr>
              <a:buSzPts val="1400"/>
              <a:buFont typeface="Arial"/>
              <a:buNone/>
            </a:pPr>
            <a:r>
              <a:t/>
            </a:r>
            <a:endParaRPr sz="1800">
              <a:latin typeface="Calibri"/>
              <a:ea typeface="Calibri"/>
              <a:cs typeface="Calibri"/>
              <a:sym typeface="Calibri"/>
            </a:endParaRPr>
          </a:p>
          <a:p>
            <a:pPr indent="0" lvl="0" marL="0" rtl="0" algn="l">
              <a:lnSpc>
                <a:spcPct val="100000"/>
              </a:lnSpc>
              <a:spcBef>
                <a:spcPts val="0"/>
              </a:spcBef>
              <a:spcAft>
                <a:spcPts val="0"/>
              </a:spcAft>
              <a:buClr>
                <a:schemeClr val="dk1"/>
              </a:buClr>
              <a:buSzPts val="1400"/>
              <a:buFont typeface="Arial"/>
              <a:buNone/>
            </a:pPr>
            <a:r>
              <a:t/>
            </a:r>
            <a:endParaRPr sz="1800">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124" name="Google Shape;1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CL">
                <a:solidFill>
                  <a:srgbClr val="002060"/>
                </a:solidFill>
                <a:latin typeface="Arial"/>
                <a:ea typeface="Arial"/>
                <a:cs typeface="Arial"/>
                <a:sym typeface="Arial"/>
              </a:rPr>
              <a:t>Componentes </a:t>
            </a:r>
            <a:endParaRPr/>
          </a:p>
          <a:p>
            <a:pPr indent="0" lvl="0" marL="0" rtl="0" algn="l">
              <a:lnSpc>
                <a:spcPct val="100000"/>
              </a:lnSpc>
              <a:spcBef>
                <a:spcPts val="0"/>
              </a:spcBef>
              <a:spcAft>
                <a:spcPts val="0"/>
              </a:spcAft>
              <a:buSzPts val="1400"/>
              <a:buNone/>
            </a:pPr>
            <a:r>
              <a:rPr lang="es-CL">
                <a:solidFill>
                  <a:srgbClr val="002060"/>
                </a:solidFill>
                <a:latin typeface="Arial"/>
                <a:ea typeface="Arial"/>
                <a:cs typeface="Arial"/>
                <a:sym typeface="Arial"/>
              </a:rPr>
              <a:t>Es decir, el resumen de aspectos relevantes . </a:t>
            </a:r>
            <a:endParaRPr/>
          </a:p>
          <a:p>
            <a:pPr indent="0" lvl="0" marL="0" rtl="0" algn="l">
              <a:lnSpc>
                <a:spcPct val="100000"/>
              </a:lnSpc>
              <a:spcBef>
                <a:spcPts val="0"/>
              </a:spcBef>
              <a:spcAft>
                <a:spcPts val="0"/>
              </a:spcAft>
              <a:buSzPts val="1400"/>
              <a:buNone/>
            </a:pPr>
            <a:r>
              <a:t/>
            </a:r>
            <a:endParaRPr>
              <a:solidFill>
                <a:srgbClr val="002060"/>
              </a:solidFill>
              <a:latin typeface="Arial"/>
              <a:ea typeface="Arial"/>
              <a:cs typeface="Arial"/>
              <a:sym typeface="Arial"/>
            </a:endParaRPr>
          </a:p>
          <a:p>
            <a:pPr indent="0" lvl="0" marL="0" rtl="0" algn="l">
              <a:lnSpc>
                <a:spcPct val="100000"/>
              </a:lnSpc>
              <a:spcBef>
                <a:spcPts val="0"/>
              </a:spcBef>
              <a:spcAft>
                <a:spcPts val="0"/>
              </a:spcAft>
              <a:buSzPts val="1400"/>
              <a:buNone/>
            </a:pPr>
            <a:r>
              <a:rPr lang="es-CL">
                <a:solidFill>
                  <a:srgbClr val="002060"/>
                </a:solidFill>
                <a:latin typeface="Arial"/>
                <a:ea typeface="Arial"/>
                <a:cs typeface="Arial"/>
                <a:sym typeface="Arial"/>
              </a:rPr>
              <a:t>Esto implica “LISTAR”</a:t>
            </a:r>
            <a:endParaRPr/>
          </a:p>
          <a:p>
            <a:pPr indent="0" lvl="0" marL="0" rtl="0" algn="l">
              <a:lnSpc>
                <a:spcPct val="100000"/>
              </a:lnSpc>
              <a:spcBef>
                <a:spcPts val="0"/>
              </a:spcBef>
              <a:spcAft>
                <a:spcPts val="0"/>
              </a:spcAft>
              <a:buSzPts val="1400"/>
              <a:buNone/>
            </a:pPr>
            <a:r>
              <a:rPr lang="es-CL">
                <a:solidFill>
                  <a:srgbClr val="002060"/>
                </a:solidFill>
                <a:latin typeface="Arial"/>
                <a:ea typeface="Arial"/>
                <a:cs typeface="Arial"/>
                <a:sym typeface="Arial"/>
              </a:rPr>
              <a:t>Arquitectura, Componentes, Estimaciones de Costo, estudios y otros usado en el estudio, panificación y diseño del proyecto </a:t>
            </a:r>
            <a:endParaRPr>
              <a:solidFill>
                <a:srgbClr val="002060"/>
              </a:solidFill>
              <a:latin typeface="Arial"/>
              <a:ea typeface="Arial"/>
              <a:cs typeface="Arial"/>
              <a:sym typeface="Arial"/>
            </a:endParaRPr>
          </a:p>
          <a:p>
            <a:pPr indent="0" lvl="0" marL="0" rtl="0" algn="l">
              <a:lnSpc>
                <a:spcPct val="100000"/>
              </a:lnSpc>
              <a:spcBef>
                <a:spcPts val="0"/>
              </a:spcBef>
              <a:spcAft>
                <a:spcPts val="0"/>
              </a:spcAft>
              <a:buSzPts val="1400"/>
              <a:buNone/>
            </a:pPr>
            <a:br>
              <a:rPr lang="es-CL">
                <a:solidFill>
                  <a:srgbClr val="002060"/>
                </a:solidFill>
              </a:rPr>
            </a:br>
            <a:r>
              <a:rPr lang="es-CL">
                <a:solidFill>
                  <a:srgbClr val="002060"/>
                </a:solidFill>
              </a:rPr>
              <a:t>Se describe la propuesta de solución del proyecto. </a:t>
            </a:r>
            <a:endParaRPr/>
          </a:p>
          <a:p>
            <a:pPr indent="0" lvl="0" marL="0" rtl="0" algn="l">
              <a:lnSpc>
                <a:spcPct val="100000"/>
              </a:lnSpc>
              <a:spcBef>
                <a:spcPts val="0"/>
              </a:spcBef>
              <a:spcAft>
                <a:spcPts val="0"/>
              </a:spcAft>
              <a:buClr>
                <a:schemeClr val="dk1"/>
              </a:buClr>
              <a:buSzPts val="1400"/>
              <a:buFont typeface="Arial"/>
              <a:buNone/>
            </a:pPr>
            <a:r>
              <a:t/>
            </a:r>
            <a:endParaRPr>
              <a:solidFill>
                <a:srgbClr val="002060"/>
              </a:solidFill>
            </a:endParaRPr>
          </a:p>
          <a:p>
            <a:pPr indent="0" lvl="0" marL="0" rtl="0" algn="l">
              <a:lnSpc>
                <a:spcPct val="100000"/>
              </a:lnSpc>
              <a:spcBef>
                <a:spcPts val="0"/>
              </a:spcBef>
              <a:spcAft>
                <a:spcPts val="0"/>
              </a:spcAft>
              <a:buClr>
                <a:schemeClr val="dk1"/>
              </a:buClr>
              <a:buSzPts val="1400"/>
              <a:buFont typeface="Arial"/>
              <a:buNone/>
            </a:pPr>
            <a:r>
              <a:rPr lang="es-CL">
                <a:solidFill>
                  <a:srgbClr val="002060"/>
                </a:solidFill>
              </a:rPr>
              <a:t>Puede usar más diapositivas para hablar se sus componentes  </a:t>
            </a:r>
            <a:endParaRPr>
              <a:solidFill>
                <a:srgbClr val="002060"/>
              </a:solidFill>
            </a:endParaRPr>
          </a:p>
          <a:p>
            <a:pPr indent="0" lvl="0" marL="0" rtl="0" algn="l">
              <a:lnSpc>
                <a:spcPct val="100000"/>
              </a:lnSpc>
              <a:spcBef>
                <a:spcPts val="0"/>
              </a:spcBef>
              <a:spcAft>
                <a:spcPts val="0"/>
              </a:spcAft>
              <a:buSzPts val="1400"/>
              <a:buNone/>
            </a:pPr>
            <a:r>
              <a:t/>
            </a:r>
            <a:endParaRPr>
              <a:solidFill>
                <a:srgbClr val="002060"/>
              </a:solidFill>
            </a:endParaRPr>
          </a:p>
          <a:p>
            <a:pPr indent="0" lvl="0" marL="0" rtl="0" algn="l">
              <a:lnSpc>
                <a:spcPct val="100000"/>
              </a:lnSpc>
              <a:spcBef>
                <a:spcPts val="0"/>
              </a:spcBef>
              <a:spcAft>
                <a:spcPts val="0"/>
              </a:spcAft>
              <a:buSzPts val="1400"/>
              <a:buNone/>
            </a:pPr>
            <a:r>
              <a:t/>
            </a:r>
            <a:endParaRPr/>
          </a:p>
        </p:txBody>
      </p:sp>
      <p:sp>
        <p:nvSpPr>
          <p:cNvPr id="137" name="Google Shape;13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a3fffeca4_1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aa3fffeca4_1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g3aa3fffeca4_1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CL"/>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b9bb48059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3ab9bb48059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ab9bb48059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CL"/>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b9bb48059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3ab9bb48059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g3ab9bb48059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CL"/>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ac5b913e3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aac5b913e3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g3aac5b913e3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CL"/>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ac5b913e3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aac5b913e3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3aac5b913e3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CL"/>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ac5b913e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g3aac5b913e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7" name="Shape 17"/>
        <p:cNvGrpSpPr/>
        <p:nvPr/>
      </p:nvGrpSpPr>
      <p:grpSpPr>
        <a:xfrm>
          <a:off x="0" y="0"/>
          <a:ext cx="0" cy="0"/>
          <a:chOff x="0" y="0"/>
          <a:chExt cx="0" cy="0"/>
        </a:xfrm>
      </p:grpSpPr>
      <p:sp>
        <p:nvSpPr>
          <p:cNvPr id="18" name="Google Shape;18;p3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0"/>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3" name="Shape 23"/>
        <p:cNvGrpSpPr/>
        <p:nvPr/>
      </p:nvGrpSpPr>
      <p:grpSpPr>
        <a:xfrm>
          <a:off x="0" y="0"/>
          <a:ext cx="0" cy="0"/>
          <a:chOff x="0" y="0"/>
          <a:chExt cx="0" cy="0"/>
        </a:xfrm>
      </p:grpSpPr>
      <p:sp>
        <p:nvSpPr>
          <p:cNvPr id="24" name="Google Shape;2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8" name="Shape 28"/>
        <p:cNvGrpSpPr/>
        <p:nvPr/>
      </p:nvGrpSpPr>
      <p:grpSpPr>
        <a:xfrm>
          <a:off x="0" y="0"/>
          <a:ext cx="0" cy="0"/>
          <a:chOff x="0" y="0"/>
          <a:chExt cx="0" cy="0"/>
        </a:xfrm>
      </p:grpSpPr>
      <p:sp>
        <p:nvSpPr>
          <p:cNvPr id="29" name="Google Shape;29;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4" name="Shape 34"/>
        <p:cNvGrpSpPr/>
        <p:nvPr/>
      </p:nvGrpSpPr>
      <p:grpSpPr>
        <a:xfrm>
          <a:off x="0" y="0"/>
          <a:ext cx="0" cy="0"/>
          <a:chOff x="0" y="0"/>
          <a:chExt cx="0" cy="0"/>
        </a:xfrm>
      </p:grpSpPr>
      <p:sp>
        <p:nvSpPr>
          <p:cNvPr id="35" name="Google Shape;35;p3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0" name="Shape 40"/>
        <p:cNvGrpSpPr/>
        <p:nvPr/>
      </p:nvGrpSpPr>
      <p:grpSpPr>
        <a:xfrm>
          <a:off x="0" y="0"/>
          <a:ext cx="0" cy="0"/>
          <a:chOff x="0" y="0"/>
          <a:chExt cx="0" cy="0"/>
        </a:xfrm>
      </p:grpSpPr>
      <p:sp>
        <p:nvSpPr>
          <p:cNvPr id="41" name="Google Shape;41;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7" name="Shape 47"/>
        <p:cNvGrpSpPr/>
        <p:nvPr/>
      </p:nvGrpSpPr>
      <p:grpSpPr>
        <a:xfrm>
          <a:off x="0" y="0"/>
          <a:ext cx="0" cy="0"/>
          <a:chOff x="0" y="0"/>
          <a:chExt cx="0" cy="0"/>
        </a:xfrm>
      </p:grpSpPr>
      <p:sp>
        <p:nvSpPr>
          <p:cNvPr id="48" name="Google Shape;48;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6" name="Shape 56"/>
        <p:cNvGrpSpPr/>
        <p:nvPr/>
      </p:nvGrpSpPr>
      <p:grpSpPr>
        <a:xfrm>
          <a:off x="0" y="0"/>
          <a:ext cx="0" cy="0"/>
          <a:chOff x="0" y="0"/>
          <a:chExt cx="0" cy="0"/>
        </a:xfrm>
      </p:grpSpPr>
      <p:sp>
        <p:nvSpPr>
          <p:cNvPr id="57" name="Google Shape;57;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1" name="Shape 61"/>
        <p:cNvGrpSpPr/>
        <p:nvPr/>
      </p:nvGrpSpPr>
      <p:grpSpPr>
        <a:xfrm>
          <a:off x="0" y="0"/>
          <a:ext cx="0" cy="0"/>
          <a:chOff x="0" y="0"/>
          <a:chExt cx="0" cy="0"/>
        </a:xfrm>
      </p:grpSpPr>
      <p:sp>
        <p:nvSpPr>
          <p:cNvPr id="62" name="Google Shape;62;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3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8" name="Shape 68"/>
        <p:cNvGrpSpPr/>
        <p:nvPr/>
      </p:nvGrpSpPr>
      <p:grpSpPr>
        <a:xfrm>
          <a:off x="0" y="0"/>
          <a:ext cx="0" cy="0"/>
          <a:chOff x="0" y="0"/>
          <a:chExt cx="0" cy="0"/>
        </a:xfrm>
      </p:grpSpPr>
      <p:sp>
        <p:nvSpPr>
          <p:cNvPr id="69" name="Google Shape;69;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9"/>
          <p:cNvSpPr/>
          <p:nvPr>
            <p:ph idx="2" type="pic"/>
          </p:nvPr>
        </p:nvSpPr>
        <p:spPr>
          <a:xfrm>
            <a:off x="5183188" y="987425"/>
            <a:ext cx="6172200" cy="4873625"/>
          </a:xfrm>
          <a:prstGeom prst="rect">
            <a:avLst/>
          </a:prstGeom>
          <a:noFill/>
          <a:ln>
            <a:noFill/>
          </a:ln>
        </p:spPr>
      </p:sp>
      <p:sp>
        <p:nvSpPr>
          <p:cNvPr id="71" name="Google Shape;71;p3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5" name="Shape 75"/>
        <p:cNvGrpSpPr/>
        <p:nvPr/>
      </p:nvGrpSpPr>
      <p:grpSpPr>
        <a:xfrm>
          <a:off x="0" y="0"/>
          <a:ext cx="0" cy="0"/>
          <a:chOff x="0" y="0"/>
          <a:chExt cx="0" cy="0"/>
        </a:xfrm>
      </p:grpSpPr>
      <p:sp>
        <p:nvSpPr>
          <p:cNvPr id="76" name="Google Shape;76;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1" name="Shape 81"/>
        <p:cNvGrpSpPr/>
        <p:nvPr/>
      </p:nvGrpSpPr>
      <p:grpSpPr>
        <a:xfrm>
          <a:off x="0" y="0"/>
          <a:ext cx="0" cy="0"/>
          <a:chOff x="0" y="0"/>
          <a:chExt cx="0" cy="0"/>
        </a:xfrm>
      </p:grpSpPr>
      <p:sp>
        <p:nvSpPr>
          <p:cNvPr id="82" name="Google Shape;82;p4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pic>
        <p:nvPicPr>
          <p:cNvPr id="15" name="Google Shape;15;p29"/>
          <p:cNvPicPr preferRelativeResize="0"/>
          <p:nvPr/>
        </p:nvPicPr>
        <p:blipFill rotWithShape="1">
          <a:blip r:embed="rId1">
            <a:alphaModFix/>
          </a:blip>
          <a:srcRect b="0" l="0" r="0" t="0"/>
          <a:stretch/>
        </p:blipFill>
        <p:spPr>
          <a:xfrm>
            <a:off x="0" y="125589"/>
            <a:ext cx="1923566" cy="740488"/>
          </a:xfrm>
          <a:prstGeom prst="rect">
            <a:avLst/>
          </a:prstGeom>
          <a:noFill/>
          <a:ln>
            <a:noFill/>
          </a:ln>
        </p:spPr>
      </p:pic>
      <p:pic>
        <p:nvPicPr>
          <p:cNvPr descr="EscuelaIT Duoc UC - Escuela de Informática y Telecomunicaciones Duoc UC - Duoc  UC | LinkedIn" id="16" name="Google Shape;16;p29"/>
          <p:cNvPicPr preferRelativeResize="0"/>
          <p:nvPr/>
        </p:nvPicPr>
        <p:blipFill rotWithShape="1">
          <a:blip r:embed="rId2">
            <a:alphaModFix/>
          </a:blip>
          <a:srcRect b="0" l="0" r="0" t="0"/>
          <a:stretch/>
        </p:blipFill>
        <p:spPr>
          <a:xfrm>
            <a:off x="8833617" y="125589"/>
            <a:ext cx="3141406" cy="78535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nvSpPr>
        <p:spPr>
          <a:xfrm>
            <a:off x="1" y="893192"/>
            <a:ext cx="12192000" cy="1493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Calibri"/>
                <a:ea typeface="Calibri"/>
                <a:cs typeface="Calibri"/>
                <a:sym typeface="Calibri"/>
              </a:rPr>
              <a:t> </a:t>
            </a:r>
            <a:r>
              <a:rPr lang="es-CL" sz="3500">
                <a:solidFill>
                  <a:schemeClr val="dk1"/>
                </a:solidFill>
                <a:latin typeface="Calibri"/>
                <a:ea typeface="Calibri"/>
                <a:cs typeface="Calibri"/>
                <a:sym typeface="Calibri"/>
              </a:rPr>
              <a:t>“Platform for the automation of requests for technological supplies”</a:t>
            </a:r>
            <a:endParaRPr sz="35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100"/>
              <a:buFont typeface="Arial"/>
              <a:buNone/>
            </a:pPr>
            <a:r>
              <a:rPr lang="es-CL" sz="2100">
                <a:solidFill>
                  <a:schemeClr val="dk1"/>
                </a:solidFill>
                <a:latin typeface="Calibri"/>
                <a:ea typeface="Calibri"/>
                <a:cs typeface="Calibri"/>
                <a:sym typeface="Calibri"/>
              </a:rPr>
              <a:t>CAPSTONE PRESENTATION</a:t>
            </a:r>
            <a:endParaRPr sz="2100">
              <a:solidFill>
                <a:schemeClr val="dk1"/>
              </a:solidFill>
              <a:latin typeface="Calibri"/>
              <a:ea typeface="Calibri"/>
              <a:cs typeface="Calibri"/>
              <a:sym typeface="Calibri"/>
            </a:endParaRPr>
          </a:p>
        </p:txBody>
      </p:sp>
      <p:sp>
        <p:nvSpPr>
          <p:cNvPr id="92" name="Google Shape;92;p1"/>
          <p:cNvSpPr txBox="1"/>
          <p:nvPr/>
        </p:nvSpPr>
        <p:spPr>
          <a:xfrm>
            <a:off x="2326800" y="2501650"/>
            <a:ext cx="7538400" cy="3828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67"/>
              <a:buFont typeface="Arial"/>
              <a:buNone/>
            </a:pPr>
            <a:r>
              <a:rPr b="1" lang="es-CL" sz="1867">
                <a:solidFill>
                  <a:schemeClr val="dk1"/>
                </a:solidFill>
                <a:latin typeface="Calibri"/>
                <a:ea typeface="Calibri"/>
                <a:cs typeface="Calibri"/>
                <a:sym typeface="Calibri"/>
              </a:rPr>
              <a:t>Teacher</a:t>
            </a:r>
            <a:endParaRPr b="1" i="0" sz="1867"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67"/>
              <a:buFont typeface="Arial"/>
              <a:buNone/>
            </a:pPr>
            <a:r>
              <a:rPr b="0" i="0" lang="es-CL" sz="1867" u="none" cap="none" strike="noStrike">
                <a:solidFill>
                  <a:schemeClr val="dk1"/>
                </a:solidFill>
                <a:latin typeface="Calibri"/>
                <a:ea typeface="Calibri"/>
                <a:cs typeface="Calibri"/>
                <a:sym typeface="Calibri"/>
              </a:rPr>
              <a:t>Marcela Orellana Silva</a:t>
            </a:r>
            <a:endParaRPr b="0" i="0" sz="1867"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67"/>
              <a:buFont typeface="Arial"/>
              <a:buNone/>
            </a:pPr>
            <a:r>
              <a:t/>
            </a:r>
            <a:endParaRPr b="0" i="0" sz="1867"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67"/>
              <a:buFont typeface="Arial"/>
              <a:buNone/>
            </a:pPr>
            <a:r>
              <a:rPr b="1" lang="es-CL" sz="1867">
                <a:solidFill>
                  <a:schemeClr val="dk1"/>
                </a:solidFill>
                <a:latin typeface="Calibri"/>
                <a:ea typeface="Calibri"/>
                <a:cs typeface="Calibri"/>
                <a:sym typeface="Calibri"/>
              </a:rPr>
              <a:t>Team</a:t>
            </a:r>
            <a:endParaRPr b="1" i="0" sz="1867"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Arial"/>
              <a:buNone/>
            </a:pPr>
            <a:r>
              <a:rPr b="0" i="0" lang="es-CL" sz="1800" u="none" cap="none" strike="noStrike">
                <a:solidFill>
                  <a:schemeClr val="dk1"/>
                </a:solidFill>
                <a:latin typeface="Calibri"/>
                <a:ea typeface="Calibri"/>
                <a:cs typeface="Calibri"/>
                <a:sym typeface="Calibri"/>
              </a:rPr>
              <a:t>Camilo Chavez Chavez</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Arial"/>
              <a:buNone/>
            </a:pPr>
            <a:r>
              <a:rPr b="0" i="0" lang="es-CL" sz="1800" u="none" cap="none" strike="noStrike">
                <a:solidFill>
                  <a:schemeClr val="dk1"/>
                </a:solidFill>
                <a:latin typeface="Calibri"/>
                <a:ea typeface="Calibri"/>
                <a:cs typeface="Calibri"/>
                <a:sym typeface="Calibri"/>
              </a:rPr>
              <a:t>Hugo González Yáñez</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Arial"/>
              <a:buNone/>
            </a:pPr>
            <a:r>
              <a:rPr b="0" i="0" lang="es-CL" sz="1800" u="none" cap="none" strike="noStrike">
                <a:solidFill>
                  <a:schemeClr val="dk1"/>
                </a:solidFill>
                <a:latin typeface="Calibri"/>
                <a:ea typeface="Calibri"/>
                <a:cs typeface="Calibri"/>
                <a:sym typeface="Calibri"/>
              </a:rPr>
              <a:t>Diego Osores Guzman</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100"/>
              <a:buFont typeface="Arial"/>
              <a:buNone/>
            </a:pPr>
            <a:r>
              <a:rPr b="0" i="0" lang="es-CL" sz="1800" u="none" cap="none" strike="noStrike">
                <a:solidFill>
                  <a:schemeClr val="dk1"/>
                </a:solidFill>
                <a:latin typeface="Calibri"/>
                <a:ea typeface="Calibri"/>
                <a:cs typeface="Calibri"/>
                <a:sym typeface="Calibri"/>
              </a:rPr>
              <a:t>Bayron Ventura González</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1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67"/>
              <a:buFont typeface="Arial"/>
              <a:buNone/>
            </a:pPr>
            <a:r>
              <a:rPr b="1" i="0" lang="es-CL" sz="1867" u="none" cap="none" strike="noStrike">
                <a:solidFill>
                  <a:schemeClr val="dk1"/>
                </a:solidFill>
                <a:latin typeface="Calibri"/>
                <a:ea typeface="Calibri"/>
                <a:cs typeface="Calibri"/>
                <a:sym typeface="Calibri"/>
              </a:rPr>
              <a:t>Duoc UC San Bernardo </a:t>
            </a:r>
            <a:endParaRPr b="0" i="0" sz="1400" u="none" cap="none" strike="noStrike">
              <a:solidFill>
                <a:srgbClr val="000000"/>
              </a:solidFill>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lang="es-CL" sz="1867">
                <a:solidFill>
                  <a:schemeClr val="dk1"/>
                </a:solidFill>
                <a:latin typeface="Calibri"/>
                <a:ea typeface="Calibri"/>
                <a:cs typeface="Calibri"/>
                <a:sym typeface="Calibri"/>
              </a:rPr>
              <a:t>School of Computer Science and Telecommunications</a:t>
            </a:r>
            <a:endParaRPr sz="1867">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67"/>
              <a:buFont typeface="Arial"/>
              <a:buNone/>
            </a:pPr>
            <a:r>
              <a:rPr lang="es-CL" sz="1867">
                <a:solidFill>
                  <a:schemeClr val="dk1"/>
                </a:solidFill>
                <a:latin typeface="Calibri"/>
                <a:ea typeface="Calibri"/>
                <a:cs typeface="Calibri"/>
                <a:sym typeface="Calibri"/>
              </a:rPr>
              <a:t>Computer Engineering</a:t>
            </a:r>
            <a:endParaRPr sz="1867">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67"/>
              <a:buFont typeface="Arial"/>
              <a:buNone/>
            </a:pPr>
            <a:r>
              <a:rPr b="0" i="0" lang="es-CL" sz="1867" u="none" cap="none" strike="noStrike">
                <a:solidFill>
                  <a:schemeClr val="dk1"/>
                </a:solidFill>
                <a:latin typeface="Calibri"/>
                <a:ea typeface="Calibri"/>
                <a:cs typeface="Calibri"/>
                <a:sym typeface="Calibri"/>
              </a:rPr>
              <a:t>2025</a:t>
            </a:r>
            <a:endParaRPr b="0" i="0" sz="1867"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933"/>
              <a:buFont typeface="Arial"/>
              <a:buNone/>
            </a:pPr>
            <a:r>
              <a:t/>
            </a:r>
            <a:endParaRPr b="0" i="0" sz="933" u="none" cap="none" strike="noStrike">
              <a:solidFill>
                <a:schemeClr val="dk1"/>
              </a:solidFill>
              <a:latin typeface="Calibri"/>
              <a:ea typeface="Calibri"/>
              <a:cs typeface="Calibri"/>
              <a:sym typeface="Calibri"/>
            </a:endParaRPr>
          </a:p>
        </p:txBody>
      </p:sp>
      <p:sp>
        <p:nvSpPr>
          <p:cNvPr id="93" name="Google Shape;93;p1"/>
          <p:cNvSpPr/>
          <p:nvPr/>
        </p:nvSpPr>
        <p:spPr>
          <a:xfrm rot="-5400000">
            <a:off x="6154970" y="671069"/>
            <a:ext cx="151882" cy="12192001"/>
          </a:xfrm>
          <a:custGeom>
            <a:rect b="b" l="l" r="r" t="t"/>
            <a:pathLst>
              <a:path extrusionOk="0" h="5624919" w="587437">
                <a:moveTo>
                  <a:pt x="0" y="0"/>
                </a:moveTo>
                <a:lnTo>
                  <a:pt x="587437" y="0"/>
                </a:lnTo>
                <a:lnTo>
                  <a:pt x="587437" y="5624919"/>
                </a:lnTo>
                <a:lnTo>
                  <a:pt x="0" y="5624919"/>
                </a:lnTo>
                <a:lnTo>
                  <a:pt x="0" y="0"/>
                </a:lnTo>
                <a:close/>
              </a:path>
            </a:pathLst>
          </a:custGeom>
          <a:blipFill rotWithShape="1">
            <a:blip r:embed="rId3">
              <a:alphaModFix/>
            </a:blip>
            <a:stretch>
              <a:fillRect b="-21582" l="-1933217" r="-22966362" t="-343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33"/>
              <a:buFont typeface="Arial"/>
              <a:buNone/>
            </a:pPr>
            <a:r>
              <a:t/>
            </a:r>
            <a:endParaRPr b="0" i="0" sz="933" u="none" cap="none" strike="noStrike">
              <a:solidFill>
                <a:schemeClr val="dk1"/>
              </a:solidFill>
              <a:latin typeface="Calibri"/>
              <a:ea typeface="Calibri"/>
              <a:cs typeface="Calibri"/>
              <a:sym typeface="Calibri"/>
            </a:endParaRPr>
          </a:p>
        </p:txBody>
      </p:sp>
      <p:sp>
        <p:nvSpPr>
          <p:cNvPr id="94" name="Google Shape;94;p1"/>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nvSpPr>
        <p:spPr>
          <a:xfrm>
            <a:off x="3720125" y="596850"/>
            <a:ext cx="4255800" cy="630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500"/>
              <a:buFont typeface="Arial"/>
              <a:buNone/>
            </a:pPr>
            <a:r>
              <a:rPr lang="es-CL" sz="3500">
                <a:solidFill>
                  <a:schemeClr val="dk1"/>
                </a:solidFill>
                <a:latin typeface="Calibri"/>
                <a:ea typeface="Calibri"/>
                <a:cs typeface="Calibri"/>
                <a:sym typeface="Calibri"/>
              </a:rPr>
              <a:t>Introduction</a:t>
            </a:r>
            <a:endParaRPr b="0" i="0" sz="1700" u="none" cap="none" strike="noStrike">
              <a:solidFill>
                <a:schemeClr val="dk1"/>
              </a:solidFill>
              <a:latin typeface="Calibri"/>
              <a:ea typeface="Calibri"/>
              <a:cs typeface="Calibri"/>
              <a:sym typeface="Calibri"/>
            </a:endParaRPr>
          </a:p>
        </p:txBody>
      </p:sp>
      <p:pic>
        <p:nvPicPr>
          <p:cNvPr id="100" name="Google Shape;100;p2" title="implementos.jpg"/>
          <p:cNvPicPr preferRelativeResize="0"/>
          <p:nvPr/>
        </p:nvPicPr>
        <p:blipFill rotWithShape="1">
          <a:blip r:embed="rId3">
            <a:alphaModFix/>
          </a:blip>
          <a:srcRect b="0" l="0" r="0" t="0"/>
          <a:stretch/>
        </p:blipFill>
        <p:spPr>
          <a:xfrm>
            <a:off x="291238" y="1617700"/>
            <a:ext cx="4929900" cy="3697500"/>
          </a:xfrm>
          <a:prstGeom prst="roundRect">
            <a:avLst>
              <a:gd fmla="val 16667" name="adj"/>
            </a:avLst>
          </a:prstGeom>
          <a:noFill/>
          <a:ln>
            <a:noFill/>
          </a:ln>
        </p:spPr>
      </p:pic>
      <p:sp>
        <p:nvSpPr>
          <p:cNvPr id="101" name="Google Shape;101;p2"/>
          <p:cNvSpPr txBox="1"/>
          <p:nvPr/>
        </p:nvSpPr>
        <p:spPr>
          <a:xfrm>
            <a:off x="5410263" y="1542813"/>
            <a:ext cx="6490500" cy="31863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Clr>
                <a:schemeClr val="dk1"/>
              </a:buClr>
              <a:buSzPts val="1100"/>
              <a:buFont typeface="Arial"/>
              <a:buNone/>
            </a:pPr>
            <a:r>
              <a:rPr lang="es-CL" sz="1500">
                <a:solidFill>
                  <a:schemeClr val="dk1"/>
                </a:solidFill>
                <a:latin typeface="Calibri"/>
                <a:ea typeface="Calibri"/>
                <a:cs typeface="Calibri"/>
                <a:sym typeface="Calibri"/>
              </a:rPr>
              <a:t>The project focuses on automating requests for technological supplies at Implementos Epysa S.A., a process currently handled via email and spreadsheets, resulting in delays, duplicate records, lost information, and a lack of real-time inventory control.</a:t>
            </a:r>
            <a:endParaRPr sz="1500">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lang="es-CL" sz="1500">
                <a:solidFill>
                  <a:schemeClr val="dk1"/>
                </a:solidFill>
                <a:latin typeface="Calibri"/>
                <a:ea typeface="Calibri"/>
                <a:cs typeface="Calibri"/>
                <a:sym typeface="Calibri"/>
              </a:rPr>
              <a:t>Resolving this issue is crucial, as it impacts operational continuity, hinders planning, and limits the company's responsiveness.</a:t>
            </a:r>
            <a:endParaRPr sz="1500">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lang="es-CL" sz="1500">
                <a:solidFill>
                  <a:schemeClr val="dk1"/>
                </a:solidFill>
                <a:latin typeface="Calibri"/>
                <a:ea typeface="Calibri"/>
                <a:cs typeface="Calibri"/>
                <a:sym typeface="Calibri"/>
              </a:rPr>
              <a:t>To address this need, the project proposes a full-stack web platform that integrates centralized requests, real-time inventory management, automatic prioritization, internal notifications, and strategic reports.</a:t>
            </a:r>
            <a:endParaRPr sz="1500">
              <a:solidFill>
                <a:schemeClr val="dk1"/>
              </a:solidFill>
              <a:latin typeface="Calibri"/>
              <a:ea typeface="Calibri"/>
              <a:cs typeface="Calibri"/>
              <a:sym typeface="Calibri"/>
            </a:endParaRPr>
          </a:p>
          <a:p>
            <a:pPr indent="0" lvl="0" marL="0" marR="0" rtl="0" algn="l">
              <a:lnSpc>
                <a:spcPct val="100000"/>
              </a:lnSpc>
              <a:spcBef>
                <a:spcPts val="1200"/>
              </a:spcBef>
              <a:spcAft>
                <a:spcPts val="1200"/>
              </a:spcAft>
              <a:buClr>
                <a:srgbClr val="000000"/>
              </a:buClr>
              <a:buSzPts val="1500"/>
              <a:buFont typeface="Arial"/>
              <a:buNone/>
            </a:pPr>
            <a:r>
              <a:rPr lang="es-CL" sz="1500">
                <a:solidFill>
                  <a:schemeClr val="dk1"/>
                </a:solidFill>
                <a:latin typeface="Calibri"/>
                <a:ea typeface="Calibri"/>
                <a:cs typeface="Calibri"/>
                <a:sym typeface="Calibri"/>
              </a:rPr>
              <a:t>This solution reduces administrative errors, optimizes response times, and strengthens traceability, directly supporting the company's digital transformation.</a:t>
            </a:r>
            <a:endParaRPr sz="1500">
              <a:solidFill>
                <a:schemeClr val="dk1"/>
              </a:solidFill>
              <a:latin typeface="Calibri"/>
              <a:ea typeface="Calibri"/>
              <a:cs typeface="Calibri"/>
              <a:sym typeface="Calibri"/>
            </a:endParaRPr>
          </a:p>
        </p:txBody>
      </p:sp>
      <p:sp>
        <p:nvSpPr>
          <p:cNvPr id="102" name="Google Shape;102;p2"/>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nvSpPr>
        <p:spPr>
          <a:xfrm>
            <a:off x="2167625" y="596850"/>
            <a:ext cx="7458000" cy="630900"/>
          </a:xfrm>
          <a:prstGeom prst="rect">
            <a:avLst/>
          </a:prstGeom>
          <a:noFill/>
          <a:ln>
            <a:noFill/>
          </a:ln>
        </p:spPr>
        <p:txBody>
          <a:bodyPr anchorCtr="0" anchor="t" bIns="45700" lIns="91425" spcFirstLastPara="1" rIns="91425" wrap="square" tIns="45700">
            <a:spAutoFit/>
          </a:bodyPr>
          <a:lstStyle/>
          <a:p>
            <a:pPr indent="450850" lvl="0" marL="0" marR="0" rtl="0" algn="ctr">
              <a:lnSpc>
                <a:spcPct val="100000"/>
              </a:lnSpc>
              <a:spcBef>
                <a:spcPts val="0"/>
              </a:spcBef>
              <a:spcAft>
                <a:spcPts val="0"/>
              </a:spcAft>
              <a:buClr>
                <a:srgbClr val="000000"/>
              </a:buClr>
              <a:buSzPts val="4800"/>
              <a:buFont typeface="Arial"/>
              <a:buNone/>
            </a:pPr>
            <a:r>
              <a:rPr lang="es-CL" sz="3500">
                <a:solidFill>
                  <a:schemeClr val="dk1"/>
                </a:solidFill>
                <a:latin typeface="Calibri"/>
                <a:ea typeface="Calibri"/>
                <a:cs typeface="Calibri"/>
                <a:sym typeface="Calibri"/>
              </a:rPr>
              <a:t>Defining the context</a:t>
            </a:r>
            <a:endParaRPr b="0" i="0" sz="3500" u="none" cap="none" strike="noStrike">
              <a:solidFill>
                <a:schemeClr val="dk1"/>
              </a:solidFill>
              <a:latin typeface="Calibri"/>
              <a:ea typeface="Calibri"/>
              <a:cs typeface="Calibri"/>
              <a:sym typeface="Calibri"/>
            </a:endParaRPr>
          </a:p>
        </p:txBody>
      </p:sp>
      <p:pic>
        <p:nvPicPr>
          <p:cNvPr id="108" name="Google Shape;108;p3" title="implementos.jpg"/>
          <p:cNvPicPr preferRelativeResize="0"/>
          <p:nvPr/>
        </p:nvPicPr>
        <p:blipFill rotWithShape="1">
          <a:blip r:embed="rId3">
            <a:alphaModFix/>
          </a:blip>
          <a:srcRect b="0" l="0" r="0" t="0"/>
          <a:stretch/>
        </p:blipFill>
        <p:spPr>
          <a:xfrm>
            <a:off x="291238" y="1617700"/>
            <a:ext cx="4929900" cy="3697500"/>
          </a:xfrm>
          <a:prstGeom prst="roundRect">
            <a:avLst>
              <a:gd fmla="val 16667" name="adj"/>
            </a:avLst>
          </a:prstGeom>
          <a:noFill/>
          <a:ln>
            <a:noFill/>
          </a:ln>
        </p:spPr>
      </p:pic>
      <p:sp>
        <p:nvSpPr>
          <p:cNvPr id="109" name="Google Shape;109;p3"/>
          <p:cNvSpPr txBox="1"/>
          <p:nvPr/>
        </p:nvSpPr>
        <p:spPr>
          <a:xfrm>
            <a:off x="5523150" y="1617700"/>
            <a:ext cx="6221100" cy="284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s-CL" sz="1500">
                <a:solidFill>
                  <a:schemeClr val="dk1"/>
                </a:solidFill>
                <a:latin typeface="Calibri"/>
                <a:ea typeface="Calibri"/>
                <a:cs typeface="Calibri"/>
                <a:sym typeface="Calibri"/>
              </a:rPr>
              <a:t>Epysa S.A. implements, where the management of requests for technological supplies is done manually via emails and spreadsheets, as described in the report.</a:t>
            </a:r>
            <a:endParaRPr sz="15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s-CL" sz="1500">
                <a:solidFill>
                  <a:schemeClr val="dk1"/>
                </a:solidFill>
                <a:latin typeface="Calibri"/>
                <a:ea typeface="Calibri"/>
                <a:cs typeface="Calibri"/>
                <a:sym typeface="Calibri"/>
              </a:rPr>
              <a:t>Problem or need: This manual process generates delays, duplicate records, loss of information, and a lack of real-time inventory control, affecting the company's operational continuity.</a:t>
            </a:r>
            <a:endParaRPr sz="1500">
              <a:solidFill>
                <a:schemeClr val="dk1"/>
              </a:solidFill>
              <a:latin typeface="Calibri"/>
              <a:ea typeface="Calibri"/>
              <a:cs typeface="Calibri"/>
              <a:sym typeface="Calibri"/>
            </a:endParaRPr>
          </a:p>
          <a:p>
            <a:pPr indent="0" lvl="0" marL="0" marR="0" rtl="0" algn="l">
              <a:lnSpc>
                <a:spcPct val="115000"/>
              </a:lnSpc>
              <a:spcBef>
                <a:spcPts val="1200"/>
              </a:spcBef>
              <a:spcAft>
                <a:spcPts val="1200"/>
              </a:spcAft>
              <a:buClr>
                <a:srgbClr val="000000"/>
              </a:buClr>
              <a:buSzPts val="1500"/>
              <a:buFont typeface="Arial"/>
              <a:buNone/>
            </a:pPr>
            <a:r>
              <a:rPr lang="es-CL" sz="1500">
                <a:solidFill>
                  <a:schemeClr val="dk1"/>
                </a:solidFill>
                <a:latin typeface="Calibri"/>
                <a:ea typeface="Calibri"/>
                <a:cs typeface="Calibri"/>
                <a:sym typeface="Calibri"/>
              </a:rPr>
              <a:t>As noted in the introduction, these limitations highlight the need for a platform that automates and standardizes the process, ensuring efficiency, traceability, and support for Epysa S.A.'s digital transformation.</a:t>
            </a:r>
            <a:endParaRPr sz="1500">
              <a:solidFill>
                <a:schemeClr val="dk1"/>
              </a:solidFill>
              <a:latin typeface="Calibri"/>
              <a:ea typeface="Calibri"/>
              <a:cs typeface="Calibri"/>
              <a:sym typeface="Calibri"/>
            </a:endParaRPr>
          </a:p>
        </p:txBody>
      </p:sp>
      <p:sp>
        <p:nvSpPr>
          <p:cNvPr id="110" name="Google Shape;110;p3"/>
          <p:cNvSpPr txBox="1"/>
          <p:nvPr>
            <p:ph idx="4294967295"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nvSpPr>
        <p:spPr>
          <a:xfrm>
            <a:off x="180050" y="1408275"/>
            <a:ext cx="42789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lang="es-CL" sz="3600">
                <a:solidFill>
                  <a:schemeClr val="dk1"/>
                </a:solidFill>
                <a:latin typeface="Calibri"/>
                <a:ea typeface="Calibri"/>
                <a:cs typeface="Calibri"/>
                <a:sym typeface="Calibri"/>
              </a:rPr>
              <a:t>General objective</a:t>
            </a:r>
            <a:endParaRPr b="0" i="0" sz="1800" u="none" cap="none" strike="noStrike">
              <a:solidFill>
                <a:schemeClr val="dk1"/>
              </a:solidFill>
              <a:latin typeface="Calibri"/>
              <a:ea typeface="Calibri"/>
              <a:cs typeface="Calibri"/>
              <a:sym typeface="Calibri"/>
            </a:endParaRPr>
          </a:p>
        </p:txBody>
      </p:sp>
      <p:sp>
        <p:nvSpPr>
          <p:cNvPr id="117" name="Google Shape;117;p4"/>
          <p:cNvSpPr txBox="1"/>
          <p:nvPr/>
        </p:nvSpPr>
        <p:spPr>
          <a:xfrm>
            <a:off x="7634650" y="1408263"/>
            <a:ext cx="42789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lang="es-CL" sz="3600">
                <a:solidFill>
                  <a:schemeClr val="dk1"/>
                </a:solidFill>
                <a:latin typeface="Calibri"/>
                <a:ea typeface="Calibri"/>
                <a:cs typeface="Calibri"/>
                <a:sym typeface="Calibri"/>
              </a:rPr>
              <a:t>Specific Objectives</a:t>
            </a:r>
            <a:endParaRPr b="0" i="0" sz="1800" u="none" cap="none" strike="noStrike">
              <a:solidFill>
                <a:schemeClr val="dk1"/>
              </a:solidFill>
              <a:latin typeface="Calibri"/>
              <a:ea typeface="Calibri"/>
              <a:cs typeface="Calibri"/>
              <a:sym typeface="Calibri"/>
            </a:endParaRPr>
          </a:p>
        </p:txBody>
      </p:sp>
      <p:sp>
        <p:nvSpPr>
          <p:cNvPr id="118" name="Google Shape;118;p4"/>
          <p:cNvSpPr/>
          <p:nvPr/>
        </p:nvSpPr>
        <p:spPr>
          <a:xfrm>
            <a:off x="232700" y="2204000"/>
            <a:ext cx="4278900" cy="32208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1400"/>
              <a:buFont typeface="Arial"/>
              <a:buNone/>
            </a:pPr>
            <a:r>
              <a:rPr lang="es-CL">
                <a:solidFill>
                  <a:schemeClr val="dk1"/>
                </a:solidFill>
                <a:latin typeface="Calibri"/>
                <a:ea typeface="Calibri"/>
                <a:cs typeface="Calibri"/>
                <a:sym typeface="Calibri"/>
              </a:rPr>
              <a:t>Automate the management of requests for technological supplies at Implementos Epysa S.A. by developing a web platform that allows reducing administrative errors, optimizing response times, and improving real-time inventory traceability.</a:t>
            </a:r>
            <a:endParaRPr b="0" i="0" sz="2000" u="none" cap="none" strike="noStrike">
              <a:solidFill>
                <a:schemeClr val="dk1"/>
              </a:solidFill>
              <a:latin typeface="Calibri"/>
              <a:ea typeface="Calibri"/>
              <a:cs typeface="Calibri"/>
              <a:sym typeface="Calibri"/>
            </a:endParaRPr>
          </a:p>
        </p:txBody>
      </p:sp>
      <p:sp>
        <p:nvSpPr>
          <p:cNvPr id="119" name="Google Shape;119;p4"/>
          <p:cNvSpPr/>
          <p:nvPr/>
        </p:nvSpPr>
        <p:spPr>
          <a:xfrm>
            <a:off x="7634650" y="2179113"/>
            <a:ext cx="4278900" cy="32706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304800" lvl="0" marL="457200" rtl="0" algn="l">
              <a:lnSpc>
                <a:spcPct val="150000"/>
              </a:lnSpc>
              <a:spcBef>
                <a:spcPts val="0"/>
              </a:spcBef>
              <a:spcAft>
                <a:spcPts val="0"/>
              </a:spcAft>
              <a:buClr>
                <a:schemeClr val="dk1"/>
              </a:buClr>
              <a:buSzPts val="1200"/>
              <a:buChar char="●"/>
            </a:pPr>
            <a:r>
              <a:rPr lang="es-CL" sz="1200">
                <a:solidFill>
                  <a:schemeClr val="dk1"/>
                </a:solidFill>
              </a:rPr>
              <a:t>Develop a responsive web interface that allows employees to create and track their supply requests.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s-CL" sz="1200">
                <a:solidFill>
                  <a:schemeClr val="dk1"/>
                </a:solidFill>
              </a:rPr>
              <a:t>Configure an automatic prioritization system for requests based on urgency or criticality of the area.</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s-CL" sz="1200">
                <a:solidFill>
                  <a:schemeClr val="dk1"/>
                </a:solidFill>
              </a:rPr>
              <a:t>Integrate an internal notification system and email notifications to keep users informed about the status of their requests.</a:t>
            </a:r>
            <a:endParaRPr sz="1200">
              <a:solidFill>
                <a:schemeClr val="dk1"/>
              </a:solidFill>
            </a:endParaRPr>
          </a:p>
          <a:p>
            <a:pPr indent="-304800" lvl="0" marL="457200" marR="0" rtl="0" algn="l">
              <a:lnSpc>
                <a:spcPct val="150000"/>
              </a:lnSpc>
              <a:spcBef>
                <a:spcPts val="0"/>
              </a:spcBef>
              <a:spcAft>
                <a:spcPts val="0"/>
              </a:spcAft>
              <a:buClr>
                <a:schemeClr val="dk1"/>
              </a:buClr>
              <a:buSzPts val="1200"/>
              <a:buFont typeface="Arial"/>
              <a:buChar char="●"/>
            </a:pPr>
            <a:r>
              <a:rPr lang="es-CL" sz="1200">
                <a:solidFill>
                  <a:schemeClr val="dk1"/>
                </a:solidFill>
              </a:rPr>
              <a:t>Generate strategic consumption and inventory reports to support decision-making and organizational planning.</a:t>
            </a:r>
            <a:endParaRPr sz="1200">
              <a:solidFill>
                <a:schemeClr val="dk1"/>
              </a:solidFill>
            </a:endParaRPr>
          </a:p>
        </p:txBody>
      </p:sp>
      <p:pic>
        <p:nvPicPr>
          <p:cNvPr id="120" name="Google Shape;120;p4"/>
          <p:cNvPicPr preferRelativeResize="0"/>
          <p:nvPr/>
        </p:nvPicPr>
        <p:blipFill rotWithShape="1">
          <a:blip r:embed="rId3">
            <a:alphaModFix/>
          </a:blip>
          <a:srcRect b="0" l="0" r="0" t="0"/>
          <a:stretch/>
        </p:blipFill>
        <p:spPr>
          <a:xfrm>
            <a:off x="4686875" y="2405282"/>
            <a:ext cx="2818249" cy="2818249"/>
          </a:xfrm>
          <a:prstGeom prst="rect">
            <a:avLst/>
          </a:prstGeom>
          <a:noFill/>
          <a:ln>
            <a:noFill/>
          </a:ln>
        </p:spPr>
      </p:pic>
      <p:sp>
        <p:nvSpPr>
          <p:cNvPr id="121" name="Google Shape;121;p4"/>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spTree>
  </p:cSld>
  <p:clrMapOvr>
    <a:masterClrMapping/>
  </p:clrMapOvr>
  <p:transition spd="slow">
    <p:wipe dir="l"/>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nvSpPr>
        <p:spPr>
          <a:xfrm>
            <a:off x="76625" y="4033675"/>
            <a:ext cx="5132700" cy="200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CL" sz="1500">
                <a:solidFill>
                  <a:schemeClr val="dk1"/>
                </a:solidFill>
                <a:latin typeface="Calibri"/>
                <a:ea typeface="Calibri"/>
                <a:cs typeface="Calibri"/>
                <a:sym typeface="Calibri"/>
              </a:rPr>
              <a:t>Iterative-incremental methodology: successive cycles of analysis, design, development, testing, and feedback.</a:t>
            </a:r>
            <a:endParaRPr b="1"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Char char="●"/>
            </a:pPr>
            <a:r>
              <a:rPr b="1" lang="es-CL" sz="1500">
                <a:solidFill>
                  <a:schemeClr val="dk1"/>
                </a:solidFill>
                <a:latin typeface="Calibri"/>
                <a:ea typeface="Calibri"/>
                <a:cs typeface="Calibri"/>
                <a:sym typeface="Calibri"/>
              </a:rPr>
              <a:t>Comprehensive planning with a Gantt chart: definition of phases, dependencies, and deadlines.</a:t>
            </a:r>
            <a:endParaRPr b="1" sz="1500">
              <a:solidFill>
                <a:schemeClr val="dk1"/>
              </a:solidFill>
              <a:latin typeface="Calibri"/>
              <a:ea typeface="Calibri"/>
              <a:cs typeface="Calibri"/>
              <a:sym typeface="Calibri"/>
            </a:endParaRPr>
          </a:p>
          <a:p>
            <a:pPr indent="-323850" lvl="0" marL="457200" marR="0" rtl="0" algn="l">
              <a:lnSpc>
                <a:spcPct val="115000"/>
              </a:lnSpc>
              <a:spcBef>
                <a:spcPts val="0"/>
              </a:spcBef>
              <a:spcAft>
                <a:spcPts val="0"/>
              </a:spcAft>
              <a:buClr>
                <a:schemeClr val="dk1"/>
              </a:buClr>
              <a:buSzPts val="1500"/>
              <a:buFont typeface="Arial"/>
              <a:buChar char="●"/>
            </a:pPr>
            <a:r>
              <a:rPr b="1" lang="es-CL" sz="1500">
                <a:solidFill>
                  <a:schemeClr val="dk1"/>
                </a:solidFill>
                <a:latin typeface="Calibri"/>
                <a:ea typeface="Calibri"/>
                <a:cs typeface="Calibri"/>
                <a:sym typeface="Calibri"/>
              </a:rPr>
              <a:t>Progress management through regular meetings and progress reports: collaborative monitoring of progress and resolution of issues.</a:t>
            </a:r>
            <a:endParaRPr b="1" sz="1500">
              <a:solidFill>
                <a:schemeClr val="dk1"/>
              </a:solidFill>
              <a:latin typeface="Calibri"/>
              <a:ea typeface="Calibri"/>
              <a:cs typeface="Calibri"/>
              <a:sym typeface="Calibri"/>
            </a:endParaRPr>
          </a:p>
        </p:txBody>
      </p:sp>
      <p:sp>
        <p:nvSpPr>
          <p:cNvPr id="127" name="Google Shape;127;p7"/>
          <p:cNvSpPr txBox="1"/>
          <p:nvPr/>
        </p:nvSpPr>
        <p:spPr>
          <a:xfrm>
            <a:off x="5317675" y="3768175"/>
            <a:ext cx="6798000" cy="253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CL" sz="1500">
                <a:solidFill>
                  <a:schemeClr val="dk1"/>
                </a:solidFill>
                <a:latin typeface="Calibri"/>
                <a:ea typeface="Calibri"/>
                <a:cs typeface="Calibri"/>
                <a:sym typeface="Calibri"/>
              </a:rPr>
              <a:t>Main Phases</a:t>
            </a:r>
            <a:endParaRPr b="1"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AutoNum type="arabicPeriod"/>
            </a:pPr>
            <a:r>
              <a:rPr b="1" lang="es-CL" sz="1500">
                <a:solidFill>
                  <a:schemeClr val="dk1"/>
                </a:solidFill>
                <a:latin typeface="Calibri"/>
                <a:ea typeface="Calibri"/>
                <a:cs typeface="Calibri"/>
                <a:sym typeface="Calibri"/>
              </a:rPr>
              <a:t>Analysis and Requirements Gathering → interviews, As-Is and To-Be workflows.</a:t>
            </a:r>
            <a:endParaRPr b="1"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AutoNum type="arabicPeriod"/>
            </a:pPr>
            <a:r>
              <a:rPr b="1" lang="es-CL" sz="1500">
                <a:solidFill>
                  <a:schemeClr val="dk1"/>
                </a:solidFill>
                <a:latin typeface="Calibri"/>
                <a:ea typeface="Calibri"/>
                <a:cs typeface="Calibri"/>
                <a:sym typeface="Calibri"/>
              </a:rPr>
              <a:t>System Design → data model, UML diagrams, interface prototypes.</a:t>
            </a:r>
            <a:endParaRPr b="1"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AutoNum type="arabicPeriod"/>
            </a:pPr>
            <a:r>
              <a:rPr b="1" lang="es-CL" sz="1500">
                <a:solidFill>
                  <a:schemeClr val="dk1"/>
                </a:solidFill>
                <a:latin typeface="Calibri"/>
                <a:ea typeface="Calibri"/>
                <a:cs typeface="Calibri"/>
                <a:sym typeface="Calibri"/>
              </a:rPr>
              <a:t>Development → frontend in React, backend in Laravel, MySQL database.</a:t>
            </a:r>
            <a:endParaRPr b="1"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AutoNum type="arabicPeriod"/>
            </a:pPr>
            <a:r>
              <a:rPr b="1" lang="es-CL" sz="1500">
                <a:solidFill>
                  <a:schemeClr val="dk1"/>
                </a:solidFill>
                <a:latin typeface="Calibri"/>
                <a:ea typeface="Calibri"/>
                <a:cs typeface="Calibri"/>
                <a:sym typeface="Calibri"/>
              </a:rPr>
              <a:t>Testing and Integration → unit, functional, and performance testing.</a:t>
            </a:r>
            <a:endParaRPr b="1"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AutoNum type="arabicPeriod"/>
            </a:pPr>
            <a:r>
              <a:rPr b="1" lang="es-CL" sz="1500">
                <a:solidFill>
                  <a:schemeClr val="dk1"/>
                </a:solidFill>
                <a:latin typeface="Calibri"/>
                <a:ea typeface="Calibri"/>
                <a:cs typeface="Calibri"/>
                <a:sym typeface="Calibri"/>
              </a:rPr>
              <a:t>Deployment and Training → user guides, team training.</a:t>
            </a:r>
            <a:endParaRPr b="1" sz="1500">
              <a:solidFill>
                <a:schemeClr val="dk1"/>
              </a:solidFill>
              <a:latin typeface="Calibri"/>
              <a:ea typeface="Calibri"/>
              <a:cs typeface="Calibri"/>
              <a:sym typeface="Calibri"/>
            </a:endParaRPr>
          </a:p>
          <a:p>
            <a:pPr indent="-323850" lvl="0" marL="457200" marR="0" rtl="0" algn="l">
              <a:lnSpc>
                <a:spcPct val="115000"/>
              </a:lnSpc>
              <a:spcBef>
                <a:spcPts val="0"/>
              </a:spcBef>
              <a:spcAft>
                <a:spcPts val="0"/>
              </a:spcAft>
              <a:buClr>
                <a:schemeClr val="dk1"/>
              </a:buClr>
              <a:buSzPts val="1500"/>
              <a:buFont typeface="Arial"/>
              <a:buAutoNum type="arabicPeriod"/>
            </a:pPr>
            <a:r>
              <a:rPr b="1" lang="es-CL" sz="1500">
                <a:solidFill>
                  <a:schemeClr val="dk1"/>
                </a:solidFill>
                <a:latin typeface="Calibri"/>
                <a:ea typeface="Calibri"/>
                <a:cs typeface="Calibri"/>
                <a:sym typeface="Calibri"/>
              </a:rPr>
              <a:t>Evaluation and Continuous Improvement → satisfaction surveys, efficiency metrics, final adjustments.</a:t>
            </a:r>
            <a:endParaRPr b="1" sz="1500">
              <a:solidFill>
                <a:schemeClr val="dk1"/>
              </a:solidFill>
              <a:latin typeface="Calibri"/>
              <a:ea typeface="Calibri"/>
              <a:cs typeface="Calibri"/>
              <a:sym typeface="Calibri"/>
            </a:endParaRPr>
          </a:p>
        </p:txBody>
      </p:sp>
      <p:sp>
        <p:nvSpPr>
          <p:cNvPr id="128" name="Google Shape;128;p7"/>
          <p:cNvSpPr txBox="1"/>
          <p:nvPr/>
        </p:nvSpPr>
        <p:spPr>
          <a:xfrm>
            <a:off x="2119025" y="596850"/>
            <a:ext cx="7458000" cy="630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500"/>
              <a:buFont typeface="Arial"/>
              <a:buNone/>
            </a:pPr>
            <a:r>
              <a:rPr lang="es-CL" sz="3500">
                <a:solidFill>
                  <a:schemeClr val="dk1"/>
                </a:solidFill>
                <a:latin typeface="Calibri"/>
                <a:ea typeface="Calibri"/>
                <a:cs typeface="Calibri"/>
                <a:sym typeface="Calibri"/>
              </a:rPr>
              <a:t>Methodology and Main Phases</a:t>
            </a:r>
            <a:endParaRPr b="0" i="0" sz="1400" u="none" cap="none" strike="noStrike">
              <a:solidFill>
                <a:schemeClr val="dk1"/>
              </a:solidFill>
              <a:latin typeface="Calibri"/>
              <a:ea typeface="Calibri"/>
              <a:cs typeface="Calibri"/>
              <a:sym typeface="Calibri"/>
            </a:endParaRPr>
          </a:p>
        </p:txBody>
      </p:sp>
      <p:grpSp>
        <p:nvGrpSpPr>
          <p:cNvPr id="129" name="Google Shape;129;p7"/>
          <p:cNvGrpSpPr/>
          <p:nvPr/>
        </p:nvGrpSpPr>
        <p:grpSpPr>
          <a:xfrm>
            <a:off x="1500661" y="1524199"/>
            <a:ext cx="8694735" cy="2213038"/>
            <a:chOff x="2076988" y="4201900"/>
            <a:chExt cx="8035800" cy="2213038"/>
          </a:xfrm>
        </p:grpSpPr>
        <p:pic>
          <p:nvPicPr>
            <p:cNvPr id="130" name="Google Shape;130;p7"/>
            <p:cNvPicPr preferRelativeResize="0"/>
            <p:nvPr/>
          </p:nvPicPr>
          <p:blipFill rotWithShape="1">
            <a:blip r:embed="rId3">
              <a:alphaModFix/>
            </a:blip>
            <a:srcRect b="0" l="0" r="0" t="0"/>
            <a:stretch/>
          </p:blipFill>
          <p:spPr>
            <a:xfrm>
              <a:off x="2076988" y="4701288"/>
              <a:ext cx="1713650" cy="1713650"/>
            </a:xfrm>
            <a:prstGeom prst="rect">
              <a:avLst/>
            </a:prstGeom>
            <a:noFill/>
            <a:ln>
              <a:noFill/>
            </a:ln>
          </p:spPr>
        </p:pic>
        <p:pic>
          <p:nvPicPr>
            <p:cNvPr id="131" name="Google Shape;131;p7"/>
            <p:cNvPicPr preferRelativeResize="0"/>
            <p:nvPr/>
          </p:nvPicPr>
          <p:blipFill rotWithShape="1">
            <a:blip r:embed="rId4">
              <a:alphaModFix/>
            </a:blip>
            <a:srcRect b="0" l="0" r="0" t="0"/>
            <a:stretch/>
          </p:blipFill>
          <p:spPr>
            <a:xfrm>
              <a:off x="3928062" y="4802200"/>
              <a:ext cx="6184726" cy="1511825"/>
            </a:xfrm>
            <a:prstGeom prst="rect">
              <a:avLst/>
            </a:prstGeom>
            <a:noFill/>
            <a:ln>
              <a:noFill/>
            </a:ln>
          </p:spPr>
        </p:pic>
        <p:sp>
          <p:nvSpPr>
            <p:cNvPr id="132" name="Google Shape;132;p7"/>
            <p:cNvSpPr txBox="1"/>
            <p:nvPr/>
          </p:nvSpPr>
          <p:spPr>
            <a:xfrm>
              <a:off x="3440027" y="4201900"/>
              <a:ext cx="5309700" cy="600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700"/>
                <a:buFont typeface="Arial"/>
                <a:buNone/>
              </a:pPr>
              <a:r>
                <a:rPr b="1" lang="es-CL" sz="2700">
                  <a:solidFill>
                    <a:srgbClr val="172740"/>
                  </a:solidFill>
                  <a:latin typeface="Franklin Gothic"/>
                  <a:ea typeface="Franklin Gothic"/>
                  <a:cs typeface="Franklin Gothic"/>
                  <a:sym typeface="Franklin Gothic"/>
                </a:rPr>
                <a:t>Iterative Incremental Development</a:t>
              </a:r>
              <a:endParaRPr b="1" i="0" sz="2700" u="none" cap="none" strike="noStrike">
                <a:solidFill>
                  <a:srgbClr val="172740"/>
                </a:solidFill>
                <a:latin typeface="Franklin Gothic"/>
                <a:ea typeface="Franklin Gothic"/>
                <a:cs typeface="Franklin Gothic"/>
                <a:sym typeface="Franklin Gothic"/>
              </a:endParaRPr>
            </a:p>
          </p:txBody>
        </p:sp>
      </p:grpSp>
      <p:sp>
        <p:nvSpPr>
          <p:cNvPr id="133" name="Google Shape;133;p7"/>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spTree>
  </p:cSld>
  <p:clrMapOvr>
    <a:masterClrMapping/>
  </p:clrMapOvr>
  <p:transition spd="slow">
    <p:wipe dir="l"/>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nvSpPr>
        <p:spPr>
          <a:xfrm>
            <a:off x="220425" y="1518550"/>
            <a:ext cx="11793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lang="es-CL" sz="1500">
                <a:solidFill>
                  <a:schemeClr val="dk1"/>
                </a:solidFill>
                <a:latin typeface="Calibri"/>
                <a:ea typeface="Calibri"/>
                <a:cs typeface="Calibri"/>
                <a:sym typeface="Calibri"/>
              </a:rPr>
              <a:t>Develop a full-stack web platform that automates the process of requesting technological supplies at Implementos Epysa S.A., integrating real-time inventory management, complete process traceability, and tools that improve operational efficiency.</a:t>
            </a:r>
            <a:endParaRPr b="0" i="0" sz="1500" u="none" cap="none" strike="noStrike">
              <a:solidFill>
                <a:srgbClr val="000000"/>
              </a:solidFill>
              <a:latin typeface="Calibri"/>
              <a:ea typeface="Calibri"/>
              <a:cs typeface="Calibri"/>
              <a:sym typeface="Calibri"/>
            </a:endParaRPr>
          </a:p>
        </p:txBody>
      </p:sp>
      <p:sp>
        <p:nvSpPr>
          <p:cNvPr id="140" name="Google Shape;140;p6"/>
          <p:cNvSpPr txBox="1"/>
          <p:nvPr/>
        </p:nvSpPr>
        <p:spPr>
          <a:xfrm>
            <a:off x="2167625" y="596850"/>
            <a:ext cx="7458000" cy="630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500"/>
              <a:buFont typeface="Arial"/>
              <a:buNone/>
            </a:pPr>
            <a:r>
              <a:rPr lang="es-CL" sz="3500">
                <a:solidFill>
                  <a:schemeClr val="dk1"/>
                </a:solidFill>
              </a:rPr>
              <a:t>Solution Proposal</a:t>
            </a:r>
            <a:endParaRPr b="0" i="0" sz="3400" u="none" cap="none" strike="noStrike">
              <a:solidFill>
                <a:schemeClr val="dk1"/>
              </a:solidFill>
              <a:latin typeface="Calibri"/>
              <a:ea typeface="Calibri"/>
              <a:cs typeface="Calibri"/>
              <a:sym typeface="Calibri"/>
            </a:endParaRPr>
          </a:p>
        </p:txBody>
      </p:sp>
      <p:sp>
        <p:nvSpPr>
          <p:cNvPr id="141" name="Google Shape;141;p6"/>
          <p:cNvSpPr txBox="1"/>
          <p:nvPr/>
        </p:nvSpPr>
        <p:spPr>
          <a:xfrm>
            <a:off x="220425" y="2054500"/>
            <a:ext cx="4959900" cy="18009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Solution Components</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Frontend: React</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Backend: Laravel (system logic, security)</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Database: MySQL in a XAMPP/phpMyAdmin environment</a:t>
            </a:r>
            <a:endParaRPr sz="1500">
              <a:solidFill>
                <a:schemeClr val="dk1"/>
              </a:solidFill>
              <a:latin typeface="Calibri"/>
              <a:ea typeface="Calibri"/>
              <a:cs typeface="Calibri"/>
              <a:sym typeface="Calibri"/>
            </a:endParaRPr>
          </a:p>
          <a:p>
            <a:pPr indent="-323850" lvl="0" marL="457200" marR="0" rtl="0" algn="l">
              <a:lnSpc>
                <a:spcPct val="100000"/>
              </a:lnSpc>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Notifications: SMTP for internal alerts and status updates</a:t>
            </a:r>
            <a:endParaRPr sz="1500">
              <a:solidFill>
                <a:schemeClr val="dk1"/>
              </a:solidFill>
              <a:latin typeface="Calibri"/>
              <a:ea typeface="Calibri"/>
              <a:cs typeface="Calibri"/>
              <a:sym typeface="Calibri"/>
            </a:endParaRPr>
          </a:p>
        </p:txBody>
      </p:sp>
      <p:sp>
        <p:nvSpPr>
          <p:cNvPr id="142" name="Google Shape;142;p6"/>
          <p:cNvSpPr txBox="1"/>
          <p:nvPr/>
        </p:nvSpPr>
        <p:spPr>
          <a:xfrm>
            <a:off x="220425" y="3855400"/>
            <a:ext cx="5230200" cy="25398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dk1"/>
              </a:buClr>
              <a:buSzPts val="1500"/>
              <a:buChar char="●"/>
            </a:pPr>
            <a:r>
              <a:rPr lang="es-CL" sz="1500">
                <a:solidFill>
                  <a:schemeClr val="dk1"/>
                </a:solidFill>
                <a:latin typeface="Calibri"/>
                <a:ea typeface="Calibri"/>
                <a:cs typeface="Calibri"/>
                <a:sym typeface="Calibri"/>
              </a:rPr>
              <a:t>Iterative-Incremental Methodology, Studies and Inputs Used</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Char char="●"/>
            </a:pPr>
            <a:r>
              <a:rPr lang="es-CL" sz="1500">
                <a:solidFill>
                  <a:schemeClr val="dk1"/>
                </a:solidFill>
                <a:latin typeface="Calibri"/>
                <a:ea typeface="Calibri"/>
                <a:cs typeface="Calibri"/>
                <a:sym typeface="Calibri"/>
              </a:rPr>
              <a:t>Process Modeling: AS-IS and TO-BE Diagrams</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Char char="●"/>
            </a:pPr>
            <a:r>
              <a:rPr lang="es-CL" sz="1500">
                <a:solidFill>
                  <a:schemeClr val="dk1"/>
                </a:solidFill>
                <a:latin typeface="Calibri"/>
                <a:ea typeface="Calibri"/>
                <a:cs typeface="Calibri"/>
                <a:sym typeface="Calibri"/>
              </a:rPr>
              <a:t>Analysis: Requirements Gathering through Interviews</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Char char="●"/>
            </a:pPr>
            <a:r>
              <a:rPr lang="es-CL" sz="1500">
                <a:solidFill>
                  <a:schemeClr val="dk1"/>
                </a:solidFill>
                <a:latin typeface="Calibri"/>
                <a:ea typeface="Calibri"/>
                <a:cs typeface="Calibri"/>
                <a:sym typeface="Calibri"/>
              </a:rPr>
              <a:t>Design: Use Cases, UML, ER Diagrams, Activity Diagrams, Object Diagrams, Extended Use Cases, Class Diagrams, Sequence Diagrams, Component Diagrams, Deployment Diagrams, Figma Prototypes</a:t>
            </a:r>
            <a:endParaRPr sz="1500">
              <a:solidFill>
                <a:schemeClr val="dk1"/>
              </a:solidFill>
              <a:latin typeface="Calibri"/>
              <a:ea typeface="Calibri"/>
              <a:cs typeface="Calibri"/>
              <a:sym typeface="Calibri"/>
            </a:endParaRPr>
          </a:p>
          <a:p>
            <a:pPr indent="-323850" lvl="0" marL="457200" marR="0" rtl="0" algn="l">
              <a:lnSpc>
                <a:spcPct val="115000"/>
              </a:lnSpc>
              <a:spcBef>
                <a:spcPts val="0"/>
              </a:spcBef>
              <a:spcAft>
                <a:spcPts val="0"/>
              </a:spcAft>
              <a:buClr>
                <a:schemeClr val="dk1"/>
              </a:buClr>
              <a:buSzPts val="1500"/>
              <a:buFont typeface="Arial"/>
              <a:buChar char="●"/>
            </a:pPr>
            <a:r>
              <a:rPr lang="es-CL" sz="1500">
                <a:solidFill>
                  <a:schemeClr val="dk1"/>
                </a:solidFill>
                <a:latin typeface="Calibri"/>
                <a:ea typeface="Calibri"/>
                <a:cs typeface="Calibri"/>
                <a:sym typeface="Calibri"/>
              </a:rPr>
              <a:t>Project Management: Gantt Chart</a:t>
            </a:r>
            <a:endParaRPr sz="1500">
              <a:solidFill>
                <a:schemeClr val="dk1"/>
              </a:solidFill>
              <a:latin typeface="Calibri"/>
              <a:ea typeface="Calibri"/>
              <a:cs typeface="Calibri"/>
              <a:sym typeface="Calibri"/>
            </a:endParaRPr>
          </a:p>
        </p:txBody>
      </p:sp>
      <p:pic>
        <p:nvPicPr>
          <p:cNvPr id="143" name="Google Shape;143;p6"/>
          <p:cNvPicPr preferRelativeResize="0"/>
          <p:nvPr/>
        </p:nvPicPr>
        <p:blipFill rotWithShape="1">
          <a:blip r:embed="rId3">
            <a:alphaModFix/>
          </a:blip>
          <a:srcRect b="0" l="0" r="0" t="0"/>
          <a:stretch/>
        </p:blipFill>
        <p:spPr>
          <a:xfrm>
            <a:off x="5450625" y="2623825"/>
            <a:ext cx="6546900" cy="3135000"/>
          </a:xfrm>
          <a:prstGeom prst="roundRect">
            <a:avLst>
              <a:gd fmla="val 16667" name="adj"/>
            </a:avLst>
          </a:prstGeom>
          <a:noFill/>
          <a:ln>
            <a:noFill/>
          </a:ln>
        </p:spPr>
      </p:pic>
      <p:sp>
        <p:nvSpPr>
          <p:cNvPr id="144" name="Google Shape;144;p6"/>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spTree>
  </p:cSld>
  <p:clrMapOvr>
    <a:masterClrMapping/>
  </p:clrMapOvr>
  <p:transition spd="slow">
    <p:wipe dir="l"/>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aa3fffeca4_1_108"/>
          <p:cNvSpPr txBox="1"/>
          <p:nvPr/>
        </p:nvSpPr>
        <p:spPr>
          <a:xfrm>
            <a:off x="3720125" y="596850"/>
            <a:ext cx="4255800" cy="1169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500"/>
              <a:buFont typeface="Arial"/>
              <a:buNone/>
            </a:pPr>
            <a:r>
              <a:rPr lang="es-CL" sz="3500">
                <a:solidFill>
                  <a:schemeClr val="dk1"/>
                </a:solidFill>
                <a:latin typeface="Calibri"/>
                <a:ea typeface="Calibri"/>
                <a:cs typeface="Calibri"/>
                <a:sym typeface="Calibri"/>
              </a:rPr>
              <a:t>Use cases</a:t>
            </a:r>
            <a:endParaRPr sz="3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500"/>
              <a:buFont typeface="Arial"/>
              <a:buNone/>
            </a:pPr>
            <a:r>
              <a:t/>
            </a:r>
            <a:endParaRPr sz="3500">
              <a:solidFill>
                <a:schemeClr val="dk1"/>
              </a:solidFill>
              <a:latin typeface="Calibri"/>
              <a:ea typeface="Calibri"/>
              <a:cs typeface="Calibri"/>
              <a:sym typeface="Calibri"/>
            </a:endParaRPr>
          </a:p>
        </p:txBody>
      </p:sp>
      <p:sp>
        <p:nvSpPr>
          <p:cNvPr id="151" name="Google Shape;151;g3aa3fffeca4_1_108"/>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pic>
        <p:nvPicPr>
          <p:cNvPr id="152" name="Google Shape;152;g3aa3fffeca4_1_108" title="Casos de uso Producto.png"/>
          <p:cNvPicPr preferRelativeResize="0"/>
          <p:nvPr/>
        </p:nvPicPr>
        <p:blipFill>
          <a:blip r:embed="rId3">
            <a:alphaModFix/>
          </a:blip>
          <a:stretch>
            <a:fillRect/>
          </a:stretch>
        </p:blipFill>
        <p:spPr>
          <a:xfrm>
            <a:off x="1642738" y="1883025"/>
            <a:ext cx="8410575" cy="4076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ab9bb48059_0_3"/>
          <p:cNvSpPr txBox="1"/>
          <p:nvPr/>
        </p:nvSpPr>
        <p:spPr>
          <a:xfrm>
            <a:off x="3720125" y="596850"/>
            <a:ext cx="4255800" cy="1169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500"/>
              <a:buFont typeface="Arial"/>
              <a:buNone/>
            </a:pPr>
            <a:r>
              <a:rPr lang="es-CL" sz="3500">
                <a:solidFill>
                  <a:schemeClr val="dk1"/>
                </a:solidFill>
                <a:latin typeface="Calibri"/>
                <a:ea typeface="Calibri"/>
                <a:cs typeface="Calibri"/>
                <a:sym typeface="Calibri"/>
              </a:rPr>
              <a:t>Use cases</a:t>
            </a:r>
            <a:endParaRPr sz="3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500"/>
              <a:buFont typeface="Arial"/>
              <a:buNone/>
            </a:pPr>
            <a:r>
              <a:t/>
            </a:r>
            <a:endParaRPr sz="3500">
              <a:solidFill>
                <a:schemeClr val="dk1"/>
              </a:solidFill>
              <a:latin typeface="Calibri"/>
              <a:ea typeface="Calibri"/>
              <a:cs typeface="Calibri"/>
              <a:sym typeface="Calibri"/>
            </a:endParaRPr>
          </a:p>
        </p:txBody>
      </p:sp>
      <p:sp>
        <p:nvSpPr>
          <p:cNvPr id="159" name="Google Shape;159;g3ab9bb48059_0_3"/>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pic>
        <p:nvPicPr>
          <p:cNvPr id="160" name="Google Shape;160;g3ab9bb48059_0_3" title="Casos de uso sesion.png"/>
          <p:cNvPicPr preferRelativeResize="0"/>
          <p:nvPr/>
        </p:nvPicPr>
        <p:blipFill>
          <a:blip r:embed="rId3">
            <a:alphaModFix/>
          </a:blip>
          <a:stretch>
            <a:fillRect/>
          </a:stretch>
        </p:blipFill>
        <p:spPr>
          <a:xfrm>
            <a:off x="1533200" y="2072875"/>
            <a:ext cx="8629650" cy="3343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ab9bb48059_0_9"/>
          <p:cNvSpPr txBox="1"/>
          <p:nvPr/>
        </p:nvSpPr>
        <p:spPr>
          <a:xfrm>
            <a:off x="3720125" y="596850"/>
            <a:ext cx="4255800" cy="1169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500"/>
              <a:buFont typeface="Arial"/>
              <a:buNone/>
            </a:pPr>
            <a:r>
              <a:rPr lang="es-CL" sz="3500">
                <a:solidFill>
                  <a:schemeClr val="dk1"/>
                </a:solidFill>
                <a:latin typeface="Calibri"/>
                <a:ea typeface="Calibri"/>
                <a:cs typeface="Calibri"/>
                <a:sym typeface="Calibri"/>
              </a:rPr>
              <a:t>Use cases</a:t>
            </a:r>
            <a:endParaRPr sz="3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500"/>
              <a:buFont typeface="Arial"/>
              <a:buNone/>
            </a:pPr>
            <a:r>
              <a:t/>
            </a:r>
            <a:endParaRPr sz="3500">
              <a:solidFill>
                <a:schemeClr val="dk1"/>
              </a:solidFill>
              <a:latin typeface="Calibri"/>
              <a:ea typeface="Calibri"/>
              <a:cs typeface="Calibri"/>
              <a:sym typeface="Calibri"/>
            </a:endParaRPr>
          </a:p>
        </p:txBody>
      </p:sp>
      <p:sp>
        <p:nvSpPr>
          <p:cNvPr id="167" name="Google Shape;167;g3ab9bb48059_0_9"/>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pic>
        <p:nvPicPr>
          <p:cNvPr id="168" name="Google Shape;168;g3ab9bb48059_0_9" title="Casos de uso Insumos.png"/>
          <p:cNvPicPr preferRelativeResize="0"/>
          <p:nvPr/>
        </p:nvPicPr>
        <p:blipFill>
          <a:blip r:embed="rId3">
            <a:alphaModFix/>
          </a:blip>
          <a:stretch>
            <a:fillRect/>
          </a:stretch>
        </p:blipFill>
        <p:spPr>
          <a:xfrm>
            <a:off x="1485900" y="1575175"/>
            <a:ext cx="9220200" cy="4733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aac5b913e3_0_13"/>
          <p:cNvSpPr txBox="1"/>
          <p:nvPr/>
        </p:nvSpPr>
        <p:spPr>
          <a:xfrm>
            <a:off x="1754550" y="2337775"/>
            <a:ext cx="3939900" cy="66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s-CL" sz="2400" u="none" cap="none" strike="noStrike">
                <a:solidFill>
                  <a:srgbClr val="000000"/>
                </a:solidFill>
                <a:latin typeface="Franklin Gothic"/>
                <a:ea typeface="Franklin Gothic"/>
                <a:cs typeface="Franklin Gothic"/>
                <a:sym typeface="Franklin Gothic"/>
              </a:rPr>
              <a:t>Necesidad de insumo</a:t>
            </a:r>
            <a:endParaRPr b="1" i="0" sz="2400" u="none" cap="none" strike="noStrike">
              <a:solidFill>
                <a:srgbClr val="000000"/>
              </a:solidFill>
              <a:latin typeface="Franklin Gothic"/>
              <a:ea typeface="Franklin Gothic"/>
              <a:cs typeface="Franklin Gothic"/>
              <a:sym typeface="Franklin Gothic"/>
            </a:endParaRPr>
          </a:p>
        </p:txBody>
      </p:sp>
      <p:sp>
        <p:nvSpPr>
          <p:cNvPr id="175" name="Google Shape;175;g3aac5b913e3_0_13"/>
          <p:cNvSpPr txBox="1"/>
          <p:nvPr/>
        </p:nvSpPr>
        <p:spPr>
          <a:xfrm>
            <a:off x="1712600" y="1329513"/>
            <a:ext cx="76413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lang="es-CL" sz="1500">
                <a:latin typeface="Calibri"/>
                <a:ea typeface="Calibri"/>
                <a:cs typeface="Calibri"/>
                <a:sym typeface="Calibri"/>
              </a:rPr>
              <a:t>The procedure is manual and unstructured, with a basic sequence between the worker and the supervisor. This rather rudimentary flow limits traceability, hinders the control of requests, and does not allow for efficient management of time or resources.</a:t>
            </a:r>
            <a:endParaRPr b="0" i="0" sz="1500" u="none" cap="none" strike="noStrike">
              <a:solidFill>
                <a:srgbClr val="000000"/>
              </a:solidFill>
              <a:latin typeface="Calibri"/>
              <a:ea typeface="Calibri"/>
              <a:cs typeface="Calibri"/>
              <a:sym typeface="Calibri"/>
            </a:endParaRPr>
          </a:p>
        </p:txBody>
      </p:sp>
      <p:pic>
        <p:nvPicPr>
          <p:cNvPr id="176" name="Google Shape;176;g3aac5b913e3_0_13"/>
          <p:cNvPicPr preferRelativeResize="0"/>
          <p:nvPr/>
        </p:nvPicPr>
        <p:blipFill rotWithShape="1">
          <a:blip r:embed="rId3">
            <a:alphaModFix/>
          </a:blip>
          <a:srcRect b="0" l="0" r="0" t="0"/>
          <a:stretch/>
        </p:blipFill>
        <p:spPr>
          <a:xfrm>
            <a:off x="3017650" y="2810375"/>
            <a:ext cx="6156701" cy="3924199"/>
          </a:xfrm>
          <a:prstGeom prst="rect">
            <a:avLst/>
          </a:prstGeom>
          <a:noFill/>
          <a:ln>
            <a:noFill/>
          </a:ln>
        </p:spPr>
      </p:pic>
      <p:sp>
        <p:nvSpPr>
          <p:cNvPr id="177" name="Google Shape;177;g3aac5b913e3_0_13"/>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sp>
        <p:nvSpPr>
          <p:cNvPr id="178" name="Google Shape;178;g3aac5b913e3_0_13"/>
          <p:cNvSpPr txBox="1"/>
          <p:nvPr/>
        </p:nvSpPr>
        <p:spPr>
          <a:xfrm>
            <a:off x="2119025" y="642413"/>
            <a:ext cx="7458000" cy="5772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100"/>
              <a:buFont typeface="Arial"/>
              <a:buNone/>
            </a:pPr>
            <a:r>
              <a:rPr b="0" i="0" lang="es-CL" sz="3500" u="none" cap="none" strike="noStrike">
                <a:solidFill>
                  <a:schemeClr val="dk1"/>
                </a:solidFill>
                <a:latin typeface="Calibri"/>
                <a:ea typeface="Calibri"/>
                <a:cs typeface="Calibri"/>
                <a:sym typeface="Calibri"/>
              </a:rPr>
              <a:t>AS-IS</a:t>
            </a:r>
            <a:endParaRPr b="0" i="0" sz="4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aac5b913e3_0_22"/>
          <p:cNvSpPr txBox="1"/>
          <p:nvPr/>
        </p:nvSpPr>
        <p:spPr>
          <a:xfrm>
            <a:off x="2035350" y="5656975"/>
            <a:ext cx="3581400" cy="1108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s-CL" sz="1200"/>
              <a:t>Clear role-based structure</a:t>
            </a:r>
            <a:endParaRPr sz="1200"/>
          </a:p>
          <a:p>
            <a:pPr indent="-304800" lvl="0" marL="457200" rtl="0" algn="l">
              <a:spcBef>
                <a:spcPts val="0"/>
              </a:spcBef>
              <a:spcAft>
                <a:spcPts val="0"/>
              </a:spcAft>
              <a:buSzPts val="1200"/>
              <a:buChar char="●"/>
            </a:pPr>
            <a:r>
              <a:rPr lang="es-CL" sz="1200"/>
              <a:t>Automated validations and decisions</a:t>
            </a:r>
            <a:endParaRPr sz="1200"/>
          </a:p>
          <a:p>
            <a:pPr indent="-304800" lvl="0" marL="457200" rtl="0" algn="l">
              <a:spcBef>
                <a:spcPts val="0"/>
              </a:spcBef>
              <a:spcAft>
                <a:spcPts val="0"/>
              </a:spcAft>
              <a:buSzPts val="1200"/>
              <a:buChar char="●"/>
            </a:pPr>
            <a:r>
              <a:rPr lang="es-CL" sz="1200"/>
              <a:t>Greater transparency and monitoring</a:t>
            </a:r>
            <a:endParaRPr sz="1200"/>
          </a:p>
          <a:p>
            <a:pPr indent="-304800" lvl="0" marL="457200" rtl="0" algn="l">
              <a:spcBef>
                <a:spcPts val="0"/>
              </a:spcBef>
              <a:spcAft>
                <a:spcPts val="0"/>
              </a:spcAft>
              <a:buSzPts val="1200"/>
              <a:buChar char="●"/>
            </a:pPr>
            <a:r>
              <a:rPr lang="es-CL" sz="1200"/>
              <a:t>Reduced time and operational burden</a:t>
            </a:r>
            <a:endParaRPr sz="1200"/>
          </a:p>
          <a:p>
            <a:pPr indent="-304800" lvl="0" marL="457200" marR="0" rtl="0" algn="l">
              <a:lnSpc>
                <a:spcPct val="100000"/>
              </a:lnSpc>
              <a:spcBef>
                <a:spcPts val="0"/>
              </a:spcBef>
              <a:spcAft>
                <a:spcPts val="0"/>
              </a:spcAft>
              <a:buClr>
                <a:srgbClr val="000000"/>
              </a:buClr>
              <a:buSzPts val="1200"/>
              <a:buFont typeface="Arial"/>
              <a:buChar char="●"/>
            </a:pPr>
            <a:r>
              <a:rPr lang="es-CL" sz="1200"/>
              <a:t>Foundation for technological implementation</a:t>
            </a:r>
            <a:endParaRPr sz="1200"/>
          </a:p>
        </p:txBody>
      </p:sp>
      <p:sp>
        <p:nvSpPr>
          <p:cNvPr id="185" name="Google Shape;185;g3aac5b913e3_0_22"/>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sp>
        <p:nvSpPr>
          <p:cNvPr id="186" name="Google Shape;186;g3aac5b913e3_0_22"/>
          <p:cNvSpPr txBox="1"/>
          <p:nvPr/>
        </p:nvSpPr>
        <p:spPr>
          <a:xfrm>
            <a:off x="2119025" y="642413"/>
            <a:ext cx="7458000" cy="5772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100"/>
              <a:buFont typeface="Arial"/>
              <a:buNone/>
            </a:pPr>
            <a:r>
              <a:rPr b="0" i="0" lang="es-CL" sz="3500" u="none" cap="none" strike="noStrike">
                <a:solidFill>
                  <a:schemeClr val="dk1"/>
                </a:solidFill>
                <a:latin typeface="Calibri"/>
                <a:ea typeface="Calibri"/>
                <a:cs typeface="Calibri"/>
                <a:sym typeface="Calibri"/>
              </a:rPr>
              <a:t>TO-BE</a:t>
            </a:r>
            <a:endParaRPr b="0" i="0" sz="4000" u="none" cap="none" strike="noStrike">
              <a:solidFill>
                <a:schemeClr val="dk1"/>
              </a:solidFill>
              <a:latin typeface="Calibri"/>
              <a:ea typeface="Calibri"/>
              <a:cs typeface="Calibri"/>
              <a:sym typeface="Calibri"/>
            </a:endParaRPr>
          </a:p>
        </p:txBody>
      </p:sp>
      <p:pic>
        <p:nvPicPr>
          <p:cNvPr id="187" name="Google Shape;187;g3aac5b913e3_0_22" title="To-Be_V2.png"/>
          <p:cNvPicPr preferRelativeResize="0"/>
          <p:nvPr/>
        </p:nvPicPr>
        <p:blipFill rotWithShape="1">
          <a:blip r:embed="rId3">
            <a:alphaModFix/>
          </a:blip>
          <a:srcRect b="0" l="0" r="0" t="0"/>
          <a:stretch/>
        </p:blipFill>
        <p:spPr>
          <a:xfrm>
            <a:off x="1141500" y="1372013"/>
            <a:ext cx="9413060" cy="41325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nvSpPr>
        <p:spPr>
          <a:xfrm>
            <a:off x="-91250" y="435905"/>
            <a:ext cx="12192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lang="es-CL" sz="3600">
                <a:solidFill>
                  <a:schemeClr val="dk1"/>
                </a:solidFill>
                <a:latin typeface="Calibri"/>
                <a:ea typeface="Calibri"/>
                <a:cs typeface="Calibri"/>
                <a:sym typeface="Calibri"/>
              </a:rPr>
              <a:t>Software architecture</a:t>
            </a:r>
            <a:endParaRPr b="0" i="0" sz="1400" u="none" cap="none" strike="noStrike">
              <a:solidFill>
                <a:srgbClr val="000000"/>
              </a:solidFill>
              <a:latin typeface="Arial"/>
              <a:ea typeface="Arial"/>
              <a:cs typeface="Arial"/>
              <a:sym typeface="Arial"/>
            </a:endParaRPr>
          </a:p>
        </p:txBody>
      </p:sp>
      <p:sp>
        <p:nvSpPr>
          <p:cNvPr id="193" name="Google Shape;193;p21"/>
          <p:cNvSpPr txBox="1"/>
          <p:nvPr/>
        </p:nvSpPr>
        <p:spPr>
          <a:xfrm>
            <a:off x="220950" y="1028925"/>
            <a:ext cx="7419900" cy="18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CL" sz="1500">
                <a:latin typeface="Calibri"/>
                <a:ea typeface="Calibri"/>
                <a:cs typeface="Calibri"/>
                <a:sym typeface="Calibri"/>
              </a:rPr>
              <a:t>Pros:</a:t>
            </a:r>
            <a:endParaRPr b="1" sz="15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s-CL" sz="1500">
                <a:latin typeface="Calibri"/>
                <a:ea typeface="Calibri"/>
                <a:cs typeface="Calibri"/>
                <a:sym typeface="Calibri"/>
              </a:rPr>
              <a:t>Preventing misuse of supplies: Supplies are only delivered with authorization.</a:t>
            </a:r>
            <a:endParaRPr b="1" sz="15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s-CL" sz="1500">
                <a:latin typeface="Calibri"/>
                <a:ea typeface="Calibri"/>
                <a:cs typeface="Calibri"/>
                <a:sym typeface="Calibri"/>
              </a:rPr>
              <a:t>Decision history: A record is kept of who approves, when, and why.</a:t>
            </a:r>
            <a:endParaRPr b="1" sz="15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s-CL" sz="1500">
                <a:latin typeface="Calibri"/>
                <a:ea typeface="Calibri"/>
                <a:cs typeface="Calibri"/>
                <a:sym typeface="Calibri"/>
              </a:rPr>
              <a:t>Resource optimization: Requests are prioritized based on urgency or availability.</a:t>
            </a:r>
            <a:endParaRPr b="1" sz="1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b="1" lang="es-CL" sz="1500">
                <a:latin typeface="Calibri"/>
                <a:ea typeface="Calibri"/>
                <a:cs typeface="Calibri"/>
                <a:sym typeface="Calibri"/>
              </a:rPr>
              <a:t>Waste reduction: Only what is needed is delivered.</a:t>
            </a:r>
            <a:endParaRPr b="1" sz="1500">
              <a:latin typeface="Calibri"/>
              <a:ea typeface="Calibri"/>
              <a:cs typeface="Calibri"/>
              <a:sym typeface="Calibri"/>
            </a:endParaRPr>
          </a:p>
        </p:txBody>
      </p:sp>
      <p:sp>
        <p:nvSpPr>
          <p:cNvPr id="194" name="Google Shape;194;p21"/>
          <p:cNvSpPr txBox="1"/>
          <p:nvPr/>
        </p:nvSpPr>
        <p:spPr>
          <a:xfrm>
            <a:off x="7404538" y="1142025"/>
            <a:ext cx="4567200" cy="14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CL" sz="1500">
                <a:latin typeface="Calibri"/>
                <a:ea typeface="Calibri"/>
                <a:cs typeface="Calibri"/>
                <a:sym typeface="Calibri"/>
              </a:rPr>
              <a:t>Cons:</a:t>
            </a:r>
            <a:endParaRPr b="1" sz="15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s-CL" sz="1500">
                <a:latin typeface="Calibri"/>
                <a:ea typeface="Calibri"/>
                <a:cs typeface="Calibri"/>
                <a:sym typeface="Calibri"/>
              </a:rPr>
              <a:t>Lack of a culture of control: This can lead to resistance or non-compliance.</a:t>
            </a:r>
            <a:endParaRPr b="1" sz="1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b="1" lang="es-CL" sz="1500">
                <a:latin typeface="Calibri"/>
                <a:ea typeface="Calibri"/>
                <a:cs typeface="Calibri"/>
                <a:sym typeface="Calibri"/>
              </a:rPr>
              <a:t>Misalignment between departments: They may have different criteria regarding what to approve and when.</a:t>
            </a:r>
            <a:endParaRPr b="1" sz="1500">
              <a:latin typeface="Calibri"/>
              <a:ea typeface="Calibri"/>
              <a:cs typeface="Calibri"/>
              <a:sym typeface="Calibri"/>
            </a:endParaRPr>
          </a:p>
        </p:txBody>
      </p:sp>
      <p:sp>
        <p:nvSpPr>
          <p:cNvPr id="195" name="Google Shape;195;p21"/>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pic>
        <p:nvPicPr>
          <p:cNvPr id="196" name="Google Shape;196;p21" title="Diagrama en blanco(1).png"/>
          <p:cNvPicPr preferRelativeResize="0"/>
          <p:nvPr/>
        </p:nvPicPr>
        <p:blipFill rotWithShape="1">
          <a:blip r:embed="rId3">
            <a:alphaModFix/>
          </a:blip>
          <a:srcRect b="0" l="0" r="0" t="0"/>
          <a:stretch/>
        </p:blipFill>
        <p:spPr>
          <a:xfrm>
            <a:off x="802813" y="2433225"/>
            <a:ext cx="10586373" cy="4424775"/>
          </a:xfrm>
          <a:prstGeom prst="rect">
            <a:avLst/>
          </a:prstGeom>
          <a:noFill/>
          <a:ln>
            <a:noFill/>
          </a:ln>
        </p:spPr>
      </p:pic>
    </p:spTree>
  </p:cSld>
  <p:clrMapOvr>
    <a:masterClrMapping/>
  </p:clrMapOvr>
  <p:transition spd="slow">
    <p:wipe dir="l"/>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3"/>
          <p:cNvSpPr txBox="1"/>
          <p:nvPr/>
        </p:nvSpPr>
        <p:spPr>
          <a:xfrm>
            <a:off x="-35099" y="869470"/>
            <a:ext cx="121920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3"/>
          <p:cNvSpPr txBox="1"/>
          <p:nvPr/>
        </p:nvSpPr>
        <p:spPr>
          <a:xfrm>
            <a:off x="512400" y="1915475"/>
            <a:ext cx="10701300" cy="3801900"/>
          </a:xfrm>
          <a:prstGeom prst="rect">
            <a:avLst/>
          </a:prstGeom>
          <a:noFill/>
          <a:ln>
            <a:noFill/>
          </a:ln>
        </p:spPr>
        <p:txBody>
          <a:bodyPr anchorCtr="0" anchor="t" bIns="91425" lIns="91425" spcFirstLastPara="1" rIns="91425" wrap="square" tIns="91425">
            <a:spAutoFit/>
          </a:bodyPr>
          <a:lstStyle/>
          <a:p>
            <a:pPr indent="-228600" lvl="0" marL="457200" rtl="0" algn="just">
              <a:lnSpc>
                <a:spcPct val="150000"/>
              </a:lnSpc>
              <a:spcBef>
                <a:spcPts val="1200"/>
              </a:spcBef>
              <a:spcAft>
                <a:spcPts val="0"/>
              </a:spcAft>
              <a:buClr>
                <a:schemeClr val="dk1"/>
              </a:buClr>
              <a:buSzPts val="1100"/>
              <a:buFont typeface="Arial"/>
              <a:buNone/>
            </a:pPr>
            <a:r>
              <a:rPr lang="es-CL" sz="1500">
                <a:latin typeface="Calibri"/>
                <a:ea typeface="Calibri"/>
                <a:cs typeface="Calibri"/>
                <a:sym typeface="Calibri"/>
              </a:rPr>
              <a:t>The project's development effectively addressed the problem identified at Implementos Epysa S.A., demonstrating that manual inventory management generates critical inefficiencies, as reported in previous inventory studies. The implementation of the web platform achieved results aligned with the established objectives:</a:t>
            </a:r>
            <a:endParaRPr sz="1500">
              <a:latin typeface="Calibri"/>
              <a:ea typeface="Calibri"/>
              <a:cs typeface="Calibri"/>
              <a:sym typeface="Calibri"/>
            </a:endParaRPr>
          </a:p>
          <a:p>
            <a:pPr indent="-228600" lvl="0" marL="457200" rtl="0" algn="just">
              <a:lnSpc>
                <a:spcPct val="150000"/>
              </a:lnSpc>
              <a:spcBef>
                <a:spcPts val="1200"/>
              </a:spcBef>
              <a:spcAft>
                <a:spcPts val="0"/>
              </a:spcAft>
              <a:buClr>
                <a:schemeClr val="dk1"/>
              </a:buClr>
              <a:buSzPts val="1100"/>
              <a:buFont typeface="Arial"/>
              <a:buNone/>
            </a:pPr>
            <a:r>
              <a:rPr lang="es-CL" sz="1500">
                <a:latin typeface="Calibri"/>
                <a:ea typeface="Calibri"/>
                <a:cs typeface="Calibri"/>
                <a:sym typeface="Calibri"/>
              </a:rPr>
              <a:t>● Request automation: A responsive web interface was built to centralize and standardize the entry of requests, reducing errors and data duplication.</a:t>
            </a:r>
            <a:endParaRPr sz="1500">
              <a:latin typeface="Calibri"/>
              <a:ea typeface="Calibri"/>
              <a:cs typeface="Calibri"/>
              <a:sym typeface="Calibri"/>
            </a:endParaRPr>
          </a:p>
          <a:p>
            <a:pPr indent="-228600" lvl="0" marL="457200" rtl="0" algn="just">
              <a:lnSpc>
                <a:spcPct val="150000"/>
              </a:lnSpc>
              <a:spcBef>
                <a:spcPts val="1200"/>
              </a:spcBef>
              <a:spcAft>
                <a:spcPts val="0"/>
              </a:spcAft>
              <a:buClr>
                <a:schemeClr val="dk1"/>
              </a:buClr>
              <a:buSzPts val="1100"/>
              <a:buFont typeface="Arial"/>
              <a:buNone/>
            </a:pPr>
            <a:r>
              <a:rPr lang="es-CL" sz="1500">
                <a:latin typeface="Calibri"/>
                <a:ea typeface="Calibri"/>
                <a:cs typeface="Calibri"/>
                <a:sym typeface="Calibri"/>
              </a:rPr>
              <a:t>● Automatic prioritization: The system incorporated configurable rules that expedite the handling of critical requests, optimizing response times.</a:t>
            </a:r>
            <a:endParaRPr sz="1500">
              <a:latin typeface="Calibri"/>
              <a:ea typeface="Calibri"/>
              <a:cs typeface="Calibri"/>
              <a:sym typeface="Calibri"/>
            </a:endParaRPr>
          </a:p>
          <a:p>
            <a:pPr indent="-228600" lvl="0" marL="457200" rtl="0" algn="just">
              <a:lnSpc>
                <a:spcPct val="150000"/>
              </a:lnSpc>
              <a:spcBef>
                <a:spcPts val="1200"/>
              </a:spcBef>
              <a:spcAft>
                <a:spcPts val="0"/>
              </a:spcAft>
              <a:buClr>
                <a:schemeClr val="dk1"/>
              </a:buClr>
              <a:buSzPts val="1100"/>
              <a:buFont typeface="Arial"/>
              <a:buNone/>
            </a:pPr>
            <a:r>
              <a:rPr lang="es-CL" sz="1500">
                <a:latin typeface="Calibri"/>
                <a:ea typeface="Calibri"/>
                <a:cs typeface="Calibri"/>
                <a:sym typeface="Calibri"/>
              </a:rPr>
              <a:t>● Strategic report generation: The platform includes dashboards that provide relevant information for planning and decision-making.</a:t>
            </a:r>
            <a:endParaRPr sz="1500">
              <a:latin typeface="Calibri"/>
              <a:ea typeface="Calibri"/>
              <a:cs typeface="Calibri"/>
              <a:sym typeface="Calibri"/>
            </a:endParaRPr>
          </a:p>
          <a:p>
            <a:pPr indent="-228600" lvl="0" marL="457200" marR="0" rtl="0" algn="just">
              <a:lnSpc>
                <a:spcPct val="150000"/>
              </a:lnSpc>
              <a:spcBef>
                <a:spcPts val="1200"/>
              </a:spcBef>
              <a:spcAft>
                <a:spcPts val="1200"/>
              </a:spcAft>
              <a:buClr>
                <a:srgbClr val="000000"/>
              </a:buClr>
              <a:buSzPts val="1500"/>
              <a:buFont typeface="Arial"/>
              <a:buNone/>
            </a:pPr>
            <a:r>
              <a:rPr lang="es-CL" sz="1500">
                <a:latin typeface="Calibri"/>
                <a:ea typeface="Calibri"/>
                <a:cs typeface="Calibri"/>
                <a:sym typeface="Calibri"/>
              </a:rPr>
              <a:t>● Notifications and alerts: Internal communication mechanisms were integrated to enhance process traceability.</a:t>
            </a:r>
            <a:endParaRPr sz="1500">
              <a:latin typeface="Calibri"/>
              <a:ea typeface="Calibri"/>
              <a:cs typeface="Calibri"/>
              <a:sym typeface="Calibri"/>
            </a:endParaRPr>
          </a:p>
        </p:txBody>
      </p:sp>
      <p:sp>
        <p:nvSpPr>
          <p:cNvPr id="203" name="Google Shape;203;p13"/>
          <p:cNvSpPr txBox="1"/>
          <p:nvPr/>
        </p:nvSpPr>
        <p:spPr>
          <a:xfrm>
            <a:off x="2167625" y="596850"/>
            <a:ext cx="7458000" cy="630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500"/>
              <a:buFont typeface="Arial"/>
              <a:buNone/>
            </a:pPr>
            <a:r>
              <a:rPr b="0" i="0" lang="es-CL" sz="3500" u="none" cap="none" strike="noStrike">
                <a:solidFill>
                  <a:schemeClr val="dk1"/>
                </a:solidFill>
                <a:latin typeface="Calibri"/>
                <a:ea typeface="Calibri"/>
                <a:cs typeface="Calibri"/>
                <a:sym typeface="Calibri"/>
              </a:rPr>
              <a:t>Conclusiones</a:t>
            </a:r>
            <a:endParaRPr b="0" i="0" sz="3500" u="none" cap="none" strike="noStrike">
              <a:solidFill>
                <a:schemeClr val="dk1"/>
              </a:solidFill>
              <a:latin typeface="Calibri"/>
              <a:ea typeface="Calibri"/>
              <a:cs typeface="Calibri"/>
              <a:sym typeface="Calibri"/>
            </a:endParaRPr>
          </a:p>
        </p:txBody>
      </p:sp>
      <p:sp>
        <p:nvSpPr>
          <p:cNvPr id="204" name="Google Shape;204;p13"/>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aac5b913e3_0_0"/>
          <p:cNvSpPr txBox="1"/>
          <p:nvPr/>
        </p:nvSpPr>
        <p:spPr>
          <a:xfrm>
            <a:off x="-247975" y="984604"/>
            <a:ext cx="12192000" cy="76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lang="es-CL" sz="4400">
                <a:solidFill>
                  <a:schemeClr val="dk1"/>
                </a:solidFill>
                <a:latin typeface="Calibri"/>
                <a:ea typeface="Calibri"/>
                <a:cs typeface="Calibri"/>
                <a:sym typeface="Calibri"/>
              </a:rPr>
              <a:t>thank you for your time</a:t>
            </a:r>
            <a:endParaRPr b="0" i="0" sz="1400" u="none" cap="none" strike="noStrike">
              <a:solidFill>
                <a:srgbClr val="000000"/>
              </a:solidFill>
              <a:latin typeface="Arial"/>
              <a:ea typeface="Arial"/>
              <a:cs typeface="Arial"/>
              <a:sym typeface="Arial"/>
            </a:endParaRPr>
          </a:p>
        </p:txBody>
      </p:sp>
      <p:sp>
        <p:nvSpPr>
          <p:cNvPr id="210" name="Google Shape;210;g3aac5b913e3_0_0"/>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CL"/>
              <a:t>“Plataforma para la automatización de solicitudes de insumos tecnológicos”</a:t>
            </a:r>
            <a:endParaRPr/>
          </a:p>
        </p:txBody>
      </p:sp>
      <p:sp>
        <p:nvSpPr>
          <p:cNvPr id="211" name="Google Shape;211;g3aac5b913e3_0_0"/>
          <p:cNvSpPr txBox="1"/>
          <p:nvPr/>
        </p:nvSpPr>
        <p:spPr>
          <a:xfrm>
            <a:off x="1958225" y="1754100"/>
            <a:ext cx="75573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3500">
                <a:solidFill>
                  <a:schemeClr val="dk1"/>
                </a:solidFill>
                <a:latin typeface="Calibri"/>
                <a:ea typeface="Calibri"/>
                <a:cs typeface="Calibri"/>
                <a:sym typeface="Calibri"/>
              </a:rPr>
              <a:t> “Platform for the automation of requests for technological supplies”</a:t>
            </a:r>
            <a:endParaRPr sz="3500">
              <a:solidFill>
                <a:schemeClr val="dk1"/>
              </a:solidFill>
              <a:latin typeface="Calibri"/>
              <a:ea typeface="Calibri"/>
              <a:cs typeface="Calibri"/>
              <a:sym typeface="Calibri"/>
            </a:endParaRPr>
          </a:p>
        </p:txBody>
      </p:sp>
      <p:sp>
        <p:nvSpPr>
          <p:cNvPr id="212" name="Google Shape;212;g3aac5b913e3_0_0"/>
          <p:cNvSpPr txBox="1"/>
          <p:nvPr/>
        </p:nvSpPr>
        <p:spPr>
          <a:xfrm>
            <a:off x="1967675" y="2913575"/>
            <a:ext cx="7538400" cy="3828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67"/>
              <a:buFont typeface="Arial"/>
              <a:buNone/>
            </a:pPr>
            <a:r>
              <a:rPr b="1" lang="es-CL" sz="1867">
                <a:solidFill>
                  <a:schemeClr val="dk1"/>
                </a:solidFill>
                <a:latin typeface="Calibri"/>
                <a:ea typeface="Calibri"/>
                <a:cs typeface="Calibri"/>
                <a:sym typeface="Calibri"/>
              </a:rPr>
              <a:t>Teacher</a:t>
            </a:r>
            <a:endParaRPr b="1" i="0" sz="1867"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67"/>
              <a:buFont typeface="Arial"/>
              <a:buNone/>
            </a:pPr>
            <a:r>
              <a:rPr b="0" i="0" lang="es-CL" sz="1867" u="none" cap="none" strike="noStrike">
                <a:solidFill>
                  <a:schemeClr val="dk1"/>
                </a:solidFill>
                <a:latin typeface="Calibri"/>
                <a:ea typeface="Calibri"/>
                <a:cs typeface="Calibri"/>
                <a:sym typeface="Calibri"/>
              </a:rPr>
              <a:t>Marcela Orellana Silva</a:t>
            </a:r>
            <a:endParaRPr b="0" i="0" sz="1867"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67"/>
              <a:buFont typeface="Arial"/>
              <a:buNone/>
            </a:pPr>
            <a:r>
              <a:t/>
            </a:r>
            <a:endParaRPr b="0" i="0" sz="1867"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67"/>
              <a:buFont typeface="Arial"/>
              <a:buNone/>
            </a:pPr>
            <a:r>
              <a:rPr b="1" lang="es-CL" sz="1867">
                <a:solidFill>
                  <a:schemeClr val="dk1"/>
                </a:solidFill>
                <a:latin typeface="Calibri"/>
                <a:ea typeface="Calibri"/>
                <a:cs typeface="Calibri"/>
                <a:sym typeface="Calibri"/>
              </a:rPr>
              <a:t>Team</a:t>
            </a:r>
            <a:endParaRPr b="1" i="0" sz="1867"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Arial"/>
              <a:buNone/>
            </a:pPr>
            <a:r>
              <a:rPr b="0" i="0" lang="es-CL" sz="1800" u="none" cap="none" strike="noStrike">
                <a:solidFill>
                  <a:schemeClr val="dk1"/>
                </a:solidFill>
                <a:latin typeface="Calibri"/>
                <a:ea typeface="Calibri"/>
                <a:cs typeface="Calibri"/>
                <a:sym typeface="Calibri"/>
              </a:rPr>
              <a:t>Camilo Chavez Chavez</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Arial"/>
              <a:buNone/>
            </a:pPr>
            <a:r>
              <a:rPr b="0" i="0" lang="es-CL" sz="1800" u="none" cap="none" strike="noStrike">
                <a:solidFill>
                  <a:schemeClr val="dk1"/>
                </a:solidFill>
                <a:latin typeface="Calibri"/>
                <a:ea typeface="Calibri"/>
                <a:cs typeface="Calibri"/>
                <a:sym typeface="Calibri"/>
              </a:rPr>
              <a:t>Hugo González Yáñez</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Arial"/>
              <a:buNone/>
            </a:pPr>
            <a:r>
              <a:rPr b="0" i="0" lang="es-CL" sz="1800" u="none" cap="none" strike="noStrike">
                <a:solidFill>
                  <a:schemeClr val="dk1"/>
                </a:solidFill>
                <a:latin typeface="Calibri"/>
                <a:ea typeface="Calibri"/>
                <a:cs typeface="Calibri"/>
                <a:sym typeface="Calibri"/>
              </a:rPr>
              <a:t>Diego Osores Guzman</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100"/>
              <a:buFont typeface="Arial"/>
              <a:buNone/>
            </a:pPr>
            <a:r>
              <a:rPr b="0" i="0" lang="es-CL" sz="1800" u="none" cap="none" strike="noStrike">
                <a:solidFill>
                  <a:schemeClr val="dk1"/>
                </a:solidFill>
                <a:latin typeface="Calibri"/>
                <a:ea typeface="Calibri"/>
                <a:cs typeface="Calibri"/>
                <a:sym typeface="Calibri"/>
              </a:rPr>
              <a:t>Bayron Ventura González</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1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67"/>
              <a:buFont typeface="Arial"/>
              <a:buNone/>
            </a:pPr>
            <a:r>
              <a:rPr b="1" i="0" lang="es-CL" sz="1867" u="none" cap="none" strike="noStrike">
                <a:solidFill>
                  <a:schemeClr val="dk1"/>
                </a:solidFill>
                <a:latin typeface="Calibri"/>
                <a:ea typeface="Calibri"/>
                <a:cs typeface="Calibri"/>
                <a:sym typeface="Calibri"/>
              </a:rPr>
              <a:t>Duoc UC San Bernardo </a:t>
            </a:r>
            <a:endParaRPr b="0" i="0" sz="1400" u="none" cap="none" strike="noStrike">
              <a:solidFill>
                <a:srgbClr val="000000"/>
              </a:solidFill>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lang="es-CL" sz="1867">
                <a:solidFill>
                  <a:schemeClr val="dk1"/>
                </a:solidFill>
                <a:latin typeface="Calibri"/>
                <a:ea typeface="Calibri"/>
                <a:cs typeface="Calibri"/>
                <a:sym typeface="Calibri"/>
              </a:rPr>
              <a:t>School of Computer Science and Telecommunications</a:t>
            </a:r>
            <a:endParaRPr sz="1867">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67"/>
              <a:buFont typeface="Arial"/>
              <a:buNone/>
            </a:pPr>
            <a:r>
              <a:rPr lang="es-CL" sz="1867">
                <a:solidFill>
                  <a:schemeClr val="dk1"/>
                </a:solidFill>
                <a:latin typeface="Calibri"/>
                <a:ea typeface="Calibri"/>
                <a:cs typeface="Calibri"/>
                <a:sym typeface="Calibri"/>
              </a:rPr>
              <a:t>Computer Engineering</a:t>
            </a:r>
            <a:endParaRPr sz="1867">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67"/>
              <a:buFont typeface="Arial"/>
              <a:buNone/>
            </a:pPr>
            <a:r>
              <a:rPr b="0" i="0" lang="es-CL" sz="1867" u="none" cap="none" strike="noStrike">
                <a:solidFill>
                  <a:schemeClr val="dk1"/>
                </a:solidFill>
                <a:latin typeface="Calibri"/>
                <a:ea typeface="Calibri"/>
                <a:cs typeface="Calibri"/>
                <a:sym typeface="Calibri"/>
              </a:rPr>
              <a:t>2025</a:t>
            </a:r>
            <a:endParaRPr b="0" i="0" sz="1867"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933"/>
              <a:buFont typeface="Arial"/>
              <a:buNone/>
            </a:pPr>
            <a:r>
              <a:t/>
            </a:r>
            <a:endParaRPr b="0" i="0" sz="933"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2023-10-28T21:12:11Z</dcterms:created>
  <dc:creator>Gerardo Galan Cruz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0x01010015ED6F46882F47419E8EA90B7B52D56C</vt:lpwstr>
  </property>
  <property fmtid="{D5CDD505-2E9C-101B-9397-08002B2CF9AE}" pid="3" name="MediaServiceImageTags">
    <vt:lpwstr/>
  </property>
</Properties>
</file>